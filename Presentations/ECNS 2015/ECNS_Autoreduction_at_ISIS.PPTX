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94" r:id="rId1"/>
  </p:sldMasterIdLst>
  <p:notesMasterIdLst>
    <p:notesMasterId r:id="rId22"/>
  </p:notesMasterIdLst>
  <p:handoutMasterIdLst>
    <p:handoutMasterId r:id="rId23"/>
  </p:handoutMasterIdLst>
  <p:sldIdLst>
    <p:sldId id="319" r:id="rId2"/>
    <p:sldId id="405" r:id="rId3"/>
    <p:sldId id="406" r:id="rId4"/>
    <p:sldId id="395" r:id="rId5"/>
    <p:sldId id="400" r:id="rId6"/>
    <p:sldId id="401" r:id="rId7"/>
    <p:sldId id="402" r:id="rId8"/>
    <p:sldId id="403" r:id="rId9"/>
    <p:sldId id="421" r:id="rId10"/>
    <p:sldId id="430" r:id="rId11"/>
    <p:sldId id="415" r:id="rId12"/>
    <p:sldId id="416" r:id="rId13"/>
    <p:sldId id="417" r:id="rId14"/>
    <p:sldId id="418" r:id="rId15"/>
    <p:sldId id="419" r:id="rId16"/>
    <p:sldId id="428" r:id="rId17"/>
    <p:sldId id="434" r:id="rId18"/>
    <p:sldId id="420" r:id="rId19"/>
    <p:sldId id="411" r:id="rId20"/>
    <p:sldId id="433" r:id="rId21"/>
  </p:sldIdLst>
  <p:sldSz cx="9144000" cy="6858000" type="screen4x3"/>
  <p:notesSz cx="6794500" cy="9906000"/>
  <p:defaultTextStyle>
    <a:defPPr>
      <a:defRPr lang="en-US"/>
    </a:defPPr>
    <a:lvl1pPr algn="l" rtl="0" fontAlgn="base">
      <a:spcBef>
        <a:spcPct val="0"/>
      </a:spcBef>
      <a:spcAft>
        <a:spcPct val="0"/>
      </a:spcAft>
      <a:defRPr b="1" kern="1200">
        <a:solidFill>
          <a:schemeClr val="tx1"/>
        </a:solidFill>
        <a:latin typeface="Lucida Sans" pitchFamily="34" charset="0"/>
        <a:ea typeface="+mn-ea"/>
        <a:cs typeface="+mn-cs"/>
      </a:defRPr>
    </a:lvl1pPr>
    <a:lvl2pPr marL="457200" algn="l" rtl="0" fontAlgn="base">
      <a:spcBef>
        <a:spcPct val="0"/>
      </a:spcBef>
      <a:spcAft>
        <a:spcPct val="0"/>
      </a:spcAft>
      <a:defRPr b="1" kern="1200">
        <a:solidFill>
          <a:schemeClr val="tx1"/>
        </a:solidFill>
        <a:latin typeface="Lucida Sans" pitchFamily="34" charset="0"/>
        <a:ea typeface="+mn-ea"/>
        <a:cs typeface="+mn-cs"/>
      </a:defRPr>
    </a:lvl2pPr>
    <a:lvl3pPr marL="914400" algn="l" rtl="0" fontAlgn="base">
      <a:spcBef>
        <a:spcPct val="0"/>
      </a:spcBef>
      <a:spcAft>
        <a:spcPct val="0"/>
      </a:spcAft>
      <a:defRPr b="1" kern="1200">
        <a:solidFill>
          <a:schemeClr val="tx1"/>
        </a:solidFill>
        <a:latin typeface="Lucida Sans" pitchFamily="34" charset="0"/>
        <a:ea typeface="+mn-ea"/>
        <a:cs typeface="+mn-cs"/>
      </a:defRPr>
    </a:lvl3pPr>
    <a:lvl4pPr marL="1371600" algn="l" rtl="0" fontAlgn="base">
      <a:spcBef>
        <a:spcPct val="0"/>
      </a:spcBef>
      <a:spcAft>
        <a:spcPct val="0"/>
      </a:spcAft>
      <a:defRPr b="1" kern="1200">
        <a:solidFill>
          <a:schemeClr val="tx1"/>
        </a:solidFill>
        <a:latin typeface="Lucida Sans" pitchFamily="34" charset="0"/>
        <a:ea typeface="+mn-ea"/>
        <a:cs typeface="+mn-cs"/>
      </a:defRPr>
    </a:lvl4pPr>
    <a:lvl5pPr marL="1828800" algn="l" rtl="0" fontAlgn="base">
      <a:spcBef>
        <a:spcPct val="0"/>
      </a:spcBef>
      <a:spcAft>
        <a:spcPct val="0"/>
      </a:spcAft>
      <a:defRPr b="1" kern="1200">
        <a:solidFill>
          <a:schemeClr val="tx1"/>
        </a:solidFill>
        <a:latin typeface="Lucida Sans" pitchFamily="34" charset="0"/>
        <a:ea typeface="+mn-ea"/>
        <a:cs typeface="+mn-cs"/>
      </a:defRPr>
    </a:lvl5pPr>
    <a:lvl6pPr marL="2286000" algn="l" defTabSz="914400" rtl="0" eaLnBrk="1" latinLnBrk="0" hangingPunct="1">
      <a:defRPr b="1" kern="1200">
        <a:solidFill>
          <a:schemeClr val="tx1"/>
        </a:solidFill>
        <a:latin typeface="Lucida Sans" pitchFamily="34" charset="0"/>
        <a:ea typeface="+mn-ea"/>
        <a:cs typeface="+mn-cs"/>
      </a:defRPr>
    </a:lvl6pPr>
    <a:lvl7pPr marL="2743200" algn="l" defTabSz="914400" rtl="0" eaLnBrk="1" latinLnBrk="0" hangingPunct="1">
      <a:defRPr b="1" kern="1200">
        <a:solidFill>
          <a:schemeClr val="tx1"/>
        </a:solidFill>
        <a:latin typeface="Lucida Sans" pitchFamily="34" charset="0"/>
        <a:ea typeface="+mn-ea"/>
        <a:cs typeface="+mn-cs"/>
      </a:defRPr>
    </a:lvl7pPr>
    <a:lvl8pPr marL="3200400" algn="l" defTabSz="914400" rtl="0" eaLnBrk="1" latinLnBrk="0" hangingPunct="1">
      <a:defRPr b="1" kern="1200">
        <a:solidFill>
          <a:schemeClr val="tx1"/>
        </a:solidFill>
        <a:latin typeface="Lucida Sans" pitchFamily="34" charset="0"/>
        <a:ea typeface="+mn-ea"/>
        <a:cs typeface="+mn-cs"/>
      </a:defRPr>
    </a:lvl8pPr>
    <a:lvl9pPr marL="3657600" algn="l" defTabSz="914400" rtl="0" eaLnBrk="1" latinLnBrk="0" hangingPunct="1">
      <a:defRPr b="1" kern="1200">
        <a:solidFill>
          <a:schemeClr val="tx1"/>
        </a:solidFill>
        <a:latin typeface="Lucida Sans"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44" autoAdjust="0"/>
    <p:restoredTop sz="86477" autoAdjust="0"/>
  </p:normalViewPr>
  <p:slideViewPr>
    <p:cSldViewPr>
      <p:cViewPr>
        <p:scale>
          <a:sx n="80" d="100"/>
          <a:sy n="80" d="100"/>
        </p:scale>
        <p:origin x="-760" y="-252"/>
      </p:cViewPr>
      <p:guideLst>
        <p:guide orient="horz" pos="2160"/>
        <p:guide pos="2880"/>
      </p:guideLst>
    </p:cSldViewPr>
  </p:slideViewPr>
  <p:outlineViewPr>
    <p:cViewPr>
      <p:scale>
        <a:sx n="33" d="100"/>
        <a:sy n="33" d="100"/>
      </p:scale>
      <p:origin x="0" y="3942"/>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4813" cy="4953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48100" y="0"/>
            <a:ext cx="2944813" cy="495300"/>
          </a:xfrm>
          <a:prstGeom prst="rect">
            <a:avLst/>
          </a:prstGeom>
        </p:spPr>
        <p:txBody>
          <a:bodyPr vert="horz" lIns="91440" tIns="45720" rIns="91440" bIns="45720" rtlCol="0"/>
          <a:lstStyle>
            <a:lvl1pPr algn="r">
              <a:defRPr sz="1200"/>
            </a:lvl1pPr>
          </a:lstStyle>
          <a:p>
            <a:fld id="{CA8B9203-037A-454E-A796-95EF4352A35F}" type="datetimeFigureOut">
              <a:rPr lang="en-GB" smtClean="0"/>
              <a:t>02/09/2015</a:t>
            </a:fld>
            <a:endParaRPr lang="en-GB"/>
          </a:p>
        </p:txBody>
      </p:sp>
      <p:sp>
        <p:nvSpPr>
          <p:cNvPr id="4" name="Footer Placeholder 3"/>
          <p:cNvSpPr>
            <a:spLocks noGrp="1"/>
          </p:cNvSpPr>
          <p:nvPr>
            <p:ph type="ftr" sz="quarter" idx="2"/>
          </p:nvPr>
        </p:nvSpPr>
        <p:spPr>
          <a:xfrm>
            <a:off x="0" y="9409113"/>
            <a:ext cx="2944813" cy="495300"/>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48100" y="9409113"/>
            <a:ext cx="2944813" cy="495300"/>
          </a:xfrm>
          <a:prstGeom prst="rect">
            <a:avLst/>
          </a:prstGeom>
        </p:spPr>
        <p:txBody>
          <a:bodyPr vert="horz" lIns="91440" tIns="45720" rIns="91440" bIns="45720" rtlCol="0" anchor="b"/>
          <a:lstStyle>
            <a:lvl1pPr algn="r">
              <a:defRPr sz="1200"/>
            </a:lvl1pPr>
          </a:lstStyle>
          <a:p>
            <a:fld id="{E73907CF-534C-4078-A807-8F913F049689}" type="slidenum">
              <a:rPr lang="en-GB" smtClean="0"/>
              <a:t>‹#›</a:t>
            </a:fld>
            <a:endParaRPr lang="en-GB"/>
          </a:p>
        </p:txBody>
      </p:sp>
    </p:spTree>
    <p:extLst>
      <p:ext uri="{BB962C8B-B14F-4D97-AF65-F5344CB8AC3E}">
        <p14:creationId xmlns:p14="http://schemas.microsoft.com/office/powerpoint/2010/main" val="3604971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2818" name="Rectangle 2"/>
          <p:cNvSpPr>
            <a:spLocks noGrp="1" noChangeArrowheads="1"/>
          </p:cNvSpPr>
          <p:nvPr>
            <p:ph type="hdr" sz="quarter"/>
          </p:nvPr>
        </p:nvSpPr>
        <p:spPr bwMode="auto">
          <a:xfrm>
            <a:off x="0" y="0"/>
            <a:ext cx="2944283" cy="4953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b="0">
                <a:latin typeface="Arial" charset="0"/>
              </a:defRPr>
            </a:lvl1pPr>
          </a:lstStyle>
          <a:p>
            <a:pPr>
              <a:defRPr/>
            </a:pPr>
            <a:endParaRPr lang="en-GB" dirty="0"/>
          </a:p>
        </p:txBody>
      </p:sp>
      <p:sp>
        <p:nvSpPr>
          <p:cNvPr id="162819" name="Rectangle 3"/>
          <p:cNvSpPr>
            <a:spLocks noGrp="1" noChangeArrowheads="1"/>
          </p:cNvSpPr>
          <p:nvPr>
            <p:ph type="dt" idx="1"/>
          </p:nvPr>
        </p:nvSpPr>
        <p:spPr bwMode="auto">
          <a:xfrm>
            <a:off x="3848645" y="0"/>
            <a:ext cx="2944283" cy="4953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a:latin typeface="Arial" charset="0"/>
              </a:defRPr>
            </a:lvl1pPr>
          </a:lstStyle>
          <a:p>
            <a:pPr>
              <a:defRPr/>
            </a:pPr>
            <a:endParaRPr lang="en-GB" dirty="0"/>
          </a:p>
        </p:txBody>
      </p:sp>
      <p:sp>
        <p:nvSpPr>
          <p:cNvPr id="45060" name="Rectangle 4"/>
          <p:cNvSpPr>
            <a:spLocks noGrp="1" noRot="1" noChangeAspect="1" noChangeArrowheads="1" noTextEdit="1"/>
          </p:cNvSpPr>
          <p:nvPr>
            <p:ph type="sldImg" idx="2"/>
          </p:nvPr>
        </p:nvSpPr>
        <p:spPr bwMode="auto">
          <a:xfrm>
            <a:off x="920750" y="742950"/>
            <a:ext cx="4953000" cy="3714750"/>
          </a:xfrm>
          <a:prstGeom prst="rect">
            <a:avLst/>
          </a:prstGeom>
          <a:noFill/>
          <a:ln w="9525">
            <a:solidFill>
              <a:srgbClr val="000000"/>
            </a:solidFill>
            <a:miter lim="800000"/>
            <a:headEnd/>
            <a:tailEnd/>
          </a:ln>
        </p:spPr>
      </p:sp>
      <p:sp>
        <p:nvSpPr>
          <p:cNvPr id="162821" name="Rectangle 5"/>
          <p:cNvSpPr>
            <a:spLocks noGrp="1" noChangeArrowheads="1"/>
          </p:cNvSpPr>
          <p:nvPr>
            <p:ph type="body" sz="quarter" idx="3"/>
          </p:nvPr>
        </p:nvSpPr>
        <p:spPr bwMode="auto">
          <a:xfrm>
            <a:off x="679450" y="4705350"/>
            <a:ext cx="5435600" cy="44577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smtClean="0"/>
              <a:t>Click to edit Master text styles</a:t>
            </a:r>
          </a:p>
          <a:p>
            <a:pPr lvl="1"/>
            <a:r>
              <a:rPr lang="en-GB" noProof="0" smtClean="0"/>
              <a:t>Second level</a:t>
            </a:r>
          </a:p>
          <a:p>
            <a:pPr lvl="2"/>
            <a:r>
              <a:rPr lang="en-GB" noProof="0" smtClean="0"/>
              <a:t>Third level</a:t>
            </a:r>
          </a:p>
          <a:p>
            <a:pPr lvl="3"/>
            <a:r>
              <a:rPr lang="en-GB" noProof="0" smtClean="0"/>
              <a:t>Fourth level</a:t>
            </a:r>
          </a:p>
          <a:p>
            <a:pPr lvl="4"/>
            <a:r>
              <a:rPr lang="en-GB" noProof="0" smtClean="0"/>
              <a:t>Fifth level</a:t>
            </a:r>
          </a:p>
        </p:txBody>
      </p:sp>
      <p:sp>
        <p:nvSpPr>
          <p:cNvPr id="162822" name="Rectangle 6"/>
          <p:cNvSpPr>
            <a:spLocks noGrp="1" noChangeArrowheads="1"/>
          </p:cNvSpPr>
          <p:nvPr>
            <p:ph type="ftr" sz="quarter" idx="4"/>
          </p:nvPr>
        </p:nvSpPr>
        <p:spPr bwMode="auto">
          <a:xfrm>
            <a:off x="0" y="9408981"/>
            <a:ext cx="2944283" cy="4953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b="0">
                <a:latin typeface="Arial" charset="0"/>
              </a:defRPr>
            </a:lvl1pPr>
          </a:lstStyle>
          <a:p>
            <a:pPr>
              <a:defRPr/>
            </a:pPr>
            <a:endParaRPr lang="en-GB" dirty="0"/>
          </a:p>
        </p:txBody>
      </p:sp>
      <p:sp>
        <p:nvSpPr>
          <p:cNvPr id="162823" name="Rectangle 7"/>
          <p:cNvSpPr>
            <a:spLocks noGrp="1" noChangeArrowheads="1"/>
          </p:cNvSpPr>
          <p:nvPr>
            <p:ph type="sldNum" sz="quarter" idx="5"/>
          </p:nvPr>
        </p:nvSpPr>
        <p:spPr bwMode="auto">
          <a:xfrm>
            <a:off x="3848645" y="9408981"/>
            <a:ext cx="2944283" cy="4953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a:latin typeface="Arial" charset="0"/>
              </a:defRPr>
            </a:lvl1pPr>
          </a:lstStyle>
          <a:p>
            <a:pPr>
              <a:defRPr/>
            </a:pPr>
            <a:fld id="{92461D5E-AF49-4583-802F-D0A22619925F}" type="slidenum">
              <a:rPr lang="en-GB"/>
              <a:pPr>
                <a:defRPr/>
              </a:pPr>
              <a:t>‹#›</a:t>
            </a:fld>
            <a:endParaRPr lang="en-GB" dirty="0"/>
          </a:p>
        </p:txBody>
      </p:sp>
    </p:spTree>
    <p:extLst>
      <p:ext uri="{BB962C8B-B14F-4D97-AF65-F5344CB8AC3E}">
        <p14:creationId xmlns:p14="http://schemas.microsoft.com/office/powerpoint/2010/main" val="168837626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p:spPr>
        <p:txBody>
          <a:bodyPr/>
          <a:lstStyle/>
          <a:p>
            <a:fld id="{DDDED019-A094-4D90-9840-3671858BE279}" type="slidenum">
              <a:rPr lang="en-GB" smtClean="0">
                <a:solidFill>
                  <a:srgbClr val="000000"/>
                </a:solidFill>
              </a:rPr>
              <a:pPr/>
              <a:t>1</a:t>
            </a:fld>
            <a:endParaRPr lang="en-GB" dirty="0" smtClean="0">
              <a:solidFill>
                <a:srgbClr val="000000"/>
              </a:solidFill>
            </a:endParaRPr>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a:ln/>
        </p:spPr>
        <p:txBody>
          <a:bodyPr/>
          <a:lstStyle/>
          <a:p>
            <a:pPr eaLnBrk="1" hangingPunct="1"/>
            <a:endParaRPr lang="en-GB" dirty="0" smtClean="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pic>
        <p:nvPicPr>
          <p:cNvPr id="4" name="Picture 1" descr="C:\Documents and Settings\rrc79113\Desktop\technologies-modelling_and_simulationcopy Tessella. Complex problems. Solved_iStock_000002456857Medium.jpg"/>
          <p:cNvPicPr>
            <a:picLocks noChangeAspect="1" noChangeArrowheads="1"/>
          </p:cNvPicPr>
          <p:nvPr userDrawn="1"/>
        </p:nvPicPr>
        <p:blipFill>
          <a:blip r:embed="rId2" cstate="screen"/>
          <a:srcRect/>
          <a:stretch>
            <a:fillRect/>
          </a:stretch>
        </p:blipFill>
        <p:spPr bwMode="auto">
          <a:xfrm>
            <a:off x="0" y="0"/>
            <a:ext cx="9144000" cy="6858000"/>
          </a:xfrm>
          <a:prstGeom prst="rect">
            <a:avLst/>
          </a:prstGeom>
          <a:noFill/>
          <a:ln w="9525">
            <a:noFill/>
            <a:miter lim="800000"/>
            <a:headEnd/>
            <a:tailEnd/>
          </a:ln>
        </p:spPr>
      </p:pic>
      <p:sp>
        <p:nvSpPr>
          <p:cNvPr id="5" name="Rectangle 4"/>
          <p:cNvSpPr/>
          <p:nvPr userDrawn="1"/>
        </p:nvSpPr>
        <p:spPr bwMode="auto">
          <a:xfrm>
            <a:off x="0" y="5286388"/>
            <a:ext cx="9144000" cy="1571612"/>
          </a:xfrm>
          <a:prstGeom prst="rect">
            <a:avLst/>
          </a:prstGeom>
          <a:gradFill flip="none" rotWithShape="1">
            <a:gsLst>
              <a:gs pos="0">
                <a:srgbClr val="5E9EFF">
                  <a:alpha val="0"/>
                </a:srgbClr>
              </a:gs>
              <a:gs pos="39999">
                <a:srgbClr val="85C2FF"/>
              </a:gs>
              <a:gs pos="70000">
                <a:srgbClr val="C4D6EB"/>
              </a:gs>
              <a:gs pos="100000">
                <a:srgbClr val="FFEBFA"/>
              </a:gs>
            </a:gsLst>
            <a:lin ang="5400000" scaled="0"/>
            <a:tileRect/>
          </a:gradFill>
          <a:ln w="9525" cap="flat" cmpd="sng" algn="ctr">
            <a:noFill/>
            <a:prstDash val="solid"/>
            <a:round/>
            <a:headEnd type="none" w="med" len="med"/>
            <a:tailEnd type="none" w="med" len="med"/>
          </a:ln>
          <a:effectLst/>
        </p:spPr>
        <p:txBody>
          <a:bodyPr/>
          <a:lstStyle/>
          <a:p>
            <a:pPr>
              <a:defRPr/>
            </a:pPr>
            <a:endParaRPr lang="en-GB" dirty="0">
              <a:solidFill>
                <a:srgbClr val="000000"/>
              </a:solidFill>
            </a:endParaRPr>
          </a:p>
        </p:txBody>
      </p:sp>
      <p:pic>
        <p:nvPicPr>
          <p:cNvPr id="6" name="Picture 6" descr="isissmallbottom"/>
          <p:cNvPicPr>
            <a:picLocks noChangeAspect="1" noChangeArrowheads="1"/>
          </p:cNvPicPr>
          <p:nvPr/>
        </p:nvPicPr>
        <p:blipFill>
          <a:blip r:embed="rId3" cstate="screen"/>
          <a:srcRect/>
          <a:stretch>
            <a:fillRect/>
          </a:stretch>
        </p:blipFill>
        <p:spPr bwMode="auto">
          <a:xfrm>
            <a:off x="0" y="5360988"/>
            <a:ext cx="9144000" cy="1497012"/>
          </a:xfrm>
          <a:prstGeom prst="rect">
            <a:avLst/>
          </a:prstGeom>
          <a:noFill/>
          <a:ln w="9525">
            <a:noFill/>
            <a:miter lim="800000"/>
            <a:headEnd/>
            <a:tailEnd/>
          </a:ln>
        </p:spPr>
      </p:pic>
      <p:pic>
        <p:nvPicPr>
          <p:cNvPr id="7" name="Picture 3" descr="C:\Documents and Settings\rrc79113\Desktop\Untitled.png"/>
          <p:cNvPicPr>
            <a:picLocks noChangeAspect="1" noChangeArrowheads="1"/>
          </p:cNvPicPr>
          <p:nvPr userDrawn="1"/>
        </p:nvPicPr>
        <p:blipFill>
          <a:blip r:embed="rId4" cstate="screen"/>
          <a:srcRect/>
          <a:stretch>
            <a:fillRect/>
          </a:stretch>
        </p:blipFill>
        <p:spPr bwMode="auto">
          <a:xfrm>
            <a:off x="467544" y="6101334"/>
            <a:ext cx="1580330" cy="640034"/>
          </a:xfrm>
          <a:prstGeom prst="rect">
            <a:avLst/>
          </a:prstGeom>
          <a:noFill/>
          <a:ln w="9525">
            <a:noFill/>
            <a:miter lim="800000"/>
            <a:headEnd/>
            <a:tailEnd/>
          </a:ln>
        </p:spPr>
      </p:pic>
      <p:sp>
        <p:nvSpPr>
          <p:cNvPr id="59395" name="Rectangle 3"/>
          <p:cNvSpPr>
            <a:spLocks noGrp="1" noChangeArrowheads="1"/>
          </p:cNvSpPr>
          <p:nvPr>
            <p:ph type="ctrTitle"/>
          </p:nvPr>
        </p:nvSpPr>
        <p:spPr>
          <a:xfrm>
            <a:off x="685800" y="1700213"/>
            <a:ext cx="7772400" cy="1470025"/>
          </a:xfrm>
          <a:gradFill flip="none" rotWithShape="1">
            <a:gsLst>
              <a:gs pos="28000">
                <a:srgbClr val="000082">
                  <a:alpha val="75000"/>
                </a:srgbClr>
              </a:gs>
              <a:gs pos="100000">
                <a:srgbClr val="0047FF">
                  <a:alpha val="0"/>
                </a:srgbClr>
              </a:gs>
            </a:gsLst>
            <a:path path="shape">
              <a:fillToRect l="50000" t="50000" r="50000" b="50000"/>
            </a:path>
            <a:tileRect/>
          </a:gradFill>
        </p:spPr>
        <p:txBody>
          <a:bodyPr/>
          <a:lstStyle>
            <a:lvl1pPr>
              <a:defRPr b="1" baseline="0">
                <a:solidFill>
                  <a:schemeClr val="bg1"/>
                </a:solidFill>
              </a:defRPr>
            </a:lvl1pPr>
          </a:lstStyle>
          <a:p>
            <a:r>
              <a:rPr lang="en-US" dirty="0"/>
              <a:t>Click to edit Master title style</a:t>
            </a:r>
          </a:p>
        </p:txBody>
      </p:sp>
      <p:sp>
        <p:nvSpPr>
          <p:cNvPr id="59396" name="Rectangle 4"/>
          <p:cNvSpPr>
            <a:spLocks noGrp="1" noChangeArrowheads="1"/>
          </p:cNvSpPr>
          <p:nvPr>
            <p:ph type="subTitle" idx="1"/>
          </p:nvPr>
        </p:nvSpPr>
        <p:spPr>
          <a:xfrm>
            <a:off x="1371600" y="3429000"/>
            <a:ext cx="6400800" cy="1752600"/>
          </a:xfrm>
          <a:gradFill>
            <a:gsLst>
              <a:gs pos="0">
                <a:srgbClr val="000082">
                  <a:alpha val="75000"/>
                </a:srgbClr>
              </a:gs>
              <a:gs pos="100000">
                <a:srgbClr val="0047FF">
                  <a:alpha val="0"/>
                </a:srgbClr>
              </a:gs>
            </a:gsLst>
            <a:path path="shape">
              <a:fillToRect l="50000" t="50000" r="50000" b="50000"/>
            </a:path>
          </a:gradFill>
        </p:spPr>
        <p:txBody>
          <a:bodyPr anchor="ctr" anchorCtr="1"/>
          <a:lstStyle>
            <a:lvl1pPr marL="0" indent="0" algn="ctr">
              <a:buFontTx/>
              <a:buNone/>
              <a:defRPr b="1" baseline="0">
                <a:solidFill>
                  <a:schemeClr val="bg1"/>
                </a:solidFill>
              </a:defRPr>
            </a:lvl1pPr>
          </a:lstStyle>
          <a:p>
            <a:r>
              <a:rPr lang="en-US" dirty="0"/>
              <a:t>Click to edit Master subtitle style</a:t>
            </a:r>
          </a:p>
        </p:txBody>
      </p:sp>
      <p:pic>
        <p:nvPicPr>
          <p:cNvPr id="9" name="Picture 8"/>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5403023" y="6170341"/>
            <a:ext cx="1185201" cy="629823"/>
          </a:xfrm>
          <a:prstGeom prst="rect">
            <a:avLst/>
          </a:prstGeom>
        </p:spPr>
      </p:pic>
      <p:pic>
        <p:nvPicPr>
          <p:cNvPr id="10" name="Picture 9"/>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2096215" y="6214449"/>
            <a:ext cx="3050963" cy="459433"/>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60697"/>
            <a:ext cx="8229600" cy="1143000"/>
          </a:xfrm>
        </p:spPr>
        <p:txBody>
          <a:bodyPr/>
          <a:lstStyle>
            <a:lvl1pPr>
              <a:defRPr sz="3600"/>
            </a:lvl1pPr>
          </a:lstStyle>
          <a:p>
            <a:r>
              <a:rPr lang="en-US" dirty="0" smtClean="0"/>
              <a:t>Click to edit Master title style</a:t>
            </a:r>
            <a:endParaRPr lang="en-GB" dirty="0"/>
          </a:p>
        </p:txBody>
      </p:sp>
      <p:sp>
        <p:nvSpPr>
          <p:cNvPr id="3" name="Content Placeholder 2"/>
          <p:cNvSpPr>
            <a:spLocks noGrp="1"/>
          </p:cNvSpPr>
          <p:nvPr>
            <p:ph idx="1"/>
          </p:nvPr>
        </p:nvSpPr>
        <p:spPr>
          <a:xfrm>
            <a:off x="457200" y="1671985"/>
            <a:ext cx="8229600" cy="42052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pic>
        <p:nvPicPr>
          <p:cNvPr id="4"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6240" y="6251401"/>
            <a:ext cx="1295400" cy="561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050" name="Picture 6" descr="isissmallbottom"/>
          <p:cNvPicPr>
            <a:picLocks noChangeAspect="1" noChangeArrowheads="1"/>
          </p:cNvPicPr>
          <p:nvPr/>
        </p:nvPicPr>
        <p:blipFill>
          <a:blip r:embed="rId4" cstate="screen"/>
          <a:srcRect/>
          <a:stretch>
            <a:fillRect/>
          </a:stretch>
        </p:blipFill>
        <p:spPr bwMode="auto">
          <a:xfrm>
            <a:off x="0" y="5360988"/>
            <a:ext cx="9144000" cy="1497012"/>
          </a:xfrm>
          <a:prstGeom prst="rect">
            <a:avLst/>
          </a:prstGeom>
          <a:noFill/>
          <a:ln w="9525">
            <a:noFill/>
            <a:miter lim="800000"/>
            <a:headEnd/>
            <a:tailEnd/>
          </a:ln>
        </p:spPr>
      </p:pic>
      <p:sp>
        <p:nvSpPr>
          <p:cNvPr id="2051" name="Rectangle 3"/>
          <p:cNvSpPr>
            <a:spLocks noGrp="1" noChangeArrowheads="1"/>
          </p:cNvSpPr>
          <p:nvPr>
            <p:ph type="title"/>
          </p:nvPr>
        </p:nvSpPr>
        <p:spPr bwMode="auto">
          <a:xfrm>
            <a:off x="457200" y="-171450"/>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2052" name="Rectangle 4"/>
          <p:cNvSpPr>
            <a:spLocks noGrp="1" noChangeArrowheads="1"/>
          </p:cNvSpPr>
          <p:nvPr>
            <p:ph type="body" idx="1"/>
          </p:nvPr>
        </p:nvSpPr>
        <p:spPr bwMode="auto">
          <a:xfrm>
            <a:off x="457200" y="1239838"/>
            <a:ext cx="8229600" cy="420528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4029" r:id="rId1"/>
    <p:sldLayoutId id="2147484031" r:id="rId2"/>
  </p:sldLayoutIdLst>
  <p:txStyles>
    <p:titleStyle>
      <a:lvl1pPr algn="ctr" rtl="0" eaLnBrk="0" fontAlgn="base" hangingPunct="0">
        <a:spcBef>
          <a:spcPct val="0"/>
        </a:spcBef>
        <a:spcAft>
          <a:spcPct val="0"/>
        </a:spcAft>
        <a:defRPr sz="2800">
          <a:solidFill>
            <a:schemeClr val="tx2"/>
          </a:solidFill>
          <a:latin typeface="+mj-lt"/>
          <a:ea typeface="+mj-ea"/>
          <a:cs typeface="+mj-cs"/>
        </a:defRPr>
      </a:lvl1pPr>
      <a:lvl2pPr algn="ctr" rtl="0" eaLnBrk="0" fontAlgn="base" hangingPunct="0">
        <a:spcBef>
          <a:spcPct val="0"/>
        </a:spcBef>
        <a:spcAft>
          <a:spcPct val="0"/>
        </a:spcAft>
        <a:defRPr sz="2800">
          <a:solidFill>
            <a:schemeClr val="tx2"/>
          </a:solidFill>
          <a:latin typeface="Lucida Sans" pitchFamily="34" charset="0"/>
        </a:defRPr>
      </a:lvl2pPr>
      <a:lvl3pPr algn="ctr" rtl="0" eaLnBrk="0" fontAlgn="base" hangingPunct="0">
        <a:spcBef>
          <a:spcPct val="0"/>
        </a:spcBef>
        <a:spcAft>
          <a:spcPct val="0"/>
        </a:spcAft>
        <a:defRPr sz="2800">
          <a:solidFill>
            <a:schemeClr val="tx2"/>
          </a:solidFill>
          <a:latin typeface="Lucida Sans" pitchFamily="34" charset="0"/>
        </a:defRPr>
      </a:lvl3pPr>
      <a:lvl4pPr algn="ctr" rtl="0" eaLnBrk="0" fontAlgn="base" hangingPunct="0">
        <a:spcBef>
          <a:spcPct val="0"/>
        </a:spcBef>
        <a:spcAft>
          <a:spcPct val="0"/>
        </a:spcAft>
        <a:defRPr sz="2800">
          <a:solidFill>
            <a:schemeClr val="tx2"/>
          </a:solidFill>
          <a:latin typeface="Lucida Sans" pitchFamily="34" charset="0"/>
        </a:defRPr>
      </a:lvl4pPr>
      <a:lvl5pPr algn="ctr" rtl="0" eaLnBrk="0" fontAlgn="base" hangingPunct="0">
        <a:spcBef>
          <a:spcPct val="0"/>
        </a:spcBef>
        <a:spcAft>
          <a:spcPct val="0"/>
        </a:spcAft>
        <a:defRPr sz="2800">
          <a:solidFill>
            <a:schemeClr val="tx2"/>
          </a:solidFill>
          <a:latin typeface="Lucida Sans" pitchFamily="34" charset="0"/>
        </a:defRPr>
      </a:lvl5pPr>
      <a:lvl6pPr marL="457200" algn="ctr" rtl="0" fontAlgn="base">
        <a:spcBef>
          <a:spcPct val="0"/>
        </a:spcBef>
        <a:spcAft>
          <a:spcPct val="0"/>
        </a:spcAft>
        <a:defRPr sz="2800">
          <a:solidFill>
            <a:schemeClr val="tx2"/>
          </a:solidFill>
          <a:latin typeface="Lucida Sans" pitchFamily="34" charset="0"/>
        </a:defRPr>
      </a:lvl6pPr>
      <a:lvl7pPr marL="914400" algn="ctr" rtl="0" fontAlgn="base">
        <a:spcBef>
          <a:spcPct val="0"/>
        </a:spcBef>
        <a:spcAft>
          <a:spcPct val="0"/>
        </a:spcAft>
        <a:defRPr sz="2800">
          <a:solidFill>
            <a:schemeClr val="tx2"/>
          </a:solidFill>
          <a:latin typeface="Lucida Sans" pitchFamily="34" charset="0"/>
        </a:defRPr>
      </a:lvl7pPr>
      <a:lvl8pPr marL="1371600" algn="ctr" rtl="0" fontAlgn="base">
        <a:spcBef>
          <a:spcPct val="0"/>
        </a:spcBef>
        <a:spcAft>
          <a:spcPct val="0"/>
        </a:spcAft>
        <a:defRPr sz="2800">
          <a:solidFill>
            <a:schemeClr val="tx2"/>
          </a:solidFill>
          <a:latin typeface="Lucida Sans" pitchFamily="34" charset="0"/>
        </a:defRPr>
      </a:lvl8pPr>
      <a:lvl9pPr marL="1828800" algn="ctr" rtl="0" fontAlgn="base">
        <a:spcBef>
          <a:spcPct val="0"/>
        </a:spcBef>
        <a:spcAft>
          <a:spcPct val="0"/>
        </a:spcAft>
        <a:defRPr sz="2800">
          <a:solidFill>
            <a:schemeClr val="tx2"/>
          </a:solidFill>
          <a:latin typeface="Lucida Sans" pitchFamily="34" charset="0"/>
        </a:defRPr>
      </a:lvl9pPr>
    </p:titleStyle>
    <p:body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000">
          <a:solidFill>
            <a:schemeClr val="tx1"/>
          </a:solidFill>
          <a:latin typeface="+mn-lt"/>
        </a:defRPr>
      </a:lvl2pPr>
      <a:lvl3pPr marL="1143000" indent="-228600" algn="l" rtl="0" eaLnBrk="0" fontAlgn="base" hangingPunct="0">
        <a:spcBef>
          <a:spcPct val="20000"/>
        </a:spcBef>
        <a:spcAft>
          <a:spcPct val="0"/>
        </a:spcAft>
        <a:buChar char="•"/>
        <a:defRPr>
          <a:solidFill>
            <a:schemeClr val="tx1"/>
          </a:solidFill>
          <a:latin typeface="+mn-lt"/>
        </a:defRPr>
      </a:lvl3pPr>
      <a:lvl4pPr marL="1600200" indent="-228600" algn="l" rtl="0" eaLnBrk="0" fontAlgn="base" hangingPunct="0">
        <a:spcBef>
          <a:spcPct val="20000"/>
        </a:spcBef>
        <a:spcAft>
          <a:spcPct val="0"/>
        </a:spcAft>
        <a:buChar char="–"/>
        <a:defRPr sz="1600">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600">
          <a:solidFill>
            <a:schemeClr val="tx1"/>
          </a:solidFill>
          <a:latin typeface="+mn-lt"/>
        </a:defRPr>
      </a:lvl6pPr>
      <a:lvl7pPr marL="2971800" indent="-228600" algn="l" rtl="0" fontAlgn="base">
        <a:spcBef>
          <a:spcPct val="20000"/>
        </a:spcBef>
        <a:spcAft>
          <a:spcPct val="0"/>
        </a:spcAft>
        <a:buChar char="»"/>
        <a:defRPr sz="1600">
          <a:solidFill>
            <a:schemeClr val="tx1"/>
          </a:solidFill>
          <a:latin typeface="+mn-lt"/>
        </a:defRPr>
      </a:lvl7pPr>
      <a:lvl8pPr marL="3429000" indent="-228600" algn="l" rtl="0" fontAlgn="base">
        <a:spcBef>
          <a:spcPct val="20000"/>
        </a:spcBef>
        <a:spcAft>
          <a:spcPct val="0"/>
        </a:spcAft>
        <a:buChar char="»"/>
        <a:defRPr sz="1600">
          <a:solidFill>
            <a:schemeClr val="tx1"/>
          </a:solidFill>
          <a:latin typeface="+mn-lt"/>
        </a:defRPr>
      </a:lvl8pPr>
      <a:lvl9pPr marL="3886200" indent="-228600" algn="l" rtl="0" fontAlgn="base">
        <a:spcBef>
          <a:spcPct val="20000"/>
        </a:spcBef>
        <a:spcAft>
          <a:spcPct val="0"/>
        </a:spcAft>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2"/>
          <p:cNvSpPr>
            <a:spLocks noGrp="1" noChangeArrowheads="1"/>
          </p:cNvSpPr>
          <p:nvPr>
            <p:ph type="ctrTitle"/>
          </p:nvPr>
        </p:nvSpPr>
        <p:spPr>
          <a:xfrm>
            <a:off x="714375" y="2143125"/>
            <a:ext cx="7772400" cy="1800225"/>
          </a:xfrm>
        </p:spPr>
        <p:txBody>
          <a:bodyPr/>
          <a:lstStyle/>
          <a:p>
            <a:pPr eaLnBrk="1" hangingPunct="1">
              <a:defRPr/>
            </a:pPr>
            <a:r>
              <a:rPr lang="en-GB" sz="3600" dirty="0"/>
              <a:t>Automated data reduction at ISIS</a:t>
            </a:r>
            <a:r>
              <a:rPr lang="en-GB" sz="3600" dirty="0" smtClean="0"/>
              <a:t/>
            </a:r>
            <a:br>
              <a:rPr lang="en-GB" sz="3600" dirty="0" smtClean="0"/>
            </a:br>
            <a:endParaRPr lang="en-GB" sz="3600" dirty="0" smtClean="0"/>
          </a:p>
        </p:txBody>
      </p:sp>
      <p:sp>
        <p:nvSpPr>
          <p:cNvPr id="15362" name="Rectangle 3"/>
          <p:cNvSpPr>
            <a:spLocks noGrp="1" noChangeArrowheads="1"/>
          </p:cNvSpPr>
          <p:nvPr>
            <p:ph type="subTitle" idx="1"/>
          </p:nvPr>
        </p:nvSpPr>
        <p:spPr>
          <a:xfrm>
            <a:off x="1357313" y="3645024"/>
            <a:ext cx="6400800" cy="1445865"/>
          </a:xfrm>
          <a:gradFill rotWithShape="0"/>
        </p:spPr>
        <p:txBody>
          <a:bodyPr>
            <a:normAutofit/>
          </a:bodyPr>
          <a:lstStyle/>
          <a:p>
            <a:pPr eaLnBrk="1" hangingPunct="1"/>
            <a:endParaRPr lang="en-GB" sz="2800" i="1" dirty="0" smtClean="0"/>
          </a:p>
          <a:p>
            <a:pPr eaLnBrk="1" hangingPunct="1"/>
            <a:r>
              <a:rPr lang="en-GB" sz="2800" i="1" dirty="0"/>
              <a:t>Anders </a:t>
            </a:r>
            <a:r>
              <a:rPr lang="en-GB" sz="2800" i="1" dirty="0" err="1"/>
              <a:t>Markvardsen</a:t>
            </a:r>
            <a:endParaRPr lang="en-GB" sz="2800" i="1" dirty="0"/>
          </a:p>
          <a:p>
            <a:pPr eaLnBrk="1" hangingPunct="1"/>
            <a:r>
              <a:rPr lang="en-GB" sz="1600" dirty="0" smtClean="0"/>
              <a:t>ECNS conference Sep 2015</a:t>
            </a:r>
            <a:endParaRPr lang="en-GB" sz="1600" dirty="0"/>
          </a:p>
          <a:p>
            <a:pPr eaLnBrk="1" hangingPunct="1"/>
            <a:endParaRPr lang="en-GB" sz="20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9456"/>
            <a:ext cx="8229600" cy="1143000"/>
          </a:xfrm>
        </p:spPr>
        <p:txBody>
          <a:bodyPr/>
          <a:lstStyle/>
          <a:p>
            <a:r>
              <a:rPr lang="en-GB" dirty="0" smtClean="0"/>
              <a:t>Inspiration</a:t>
            </a:r>
            <a:endParaRPr lang="en-GB" dirty="0"/>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59832" y="2681535"/>
            <a:ext cx="3050963" cy="459433"/>
          </a:xfrm>
          <a:prstGeom prst="rect">
            <a:avLst/>
          </a:prstGeom>
        </p:spPr>
      </p:pic>
    </p:spTree>
    <p:extLst>
      <p:ext uri="{BB962C8B-B14F-4D97-AF65-F5344CB8AC3E}">
        <p14:creationId xmlns:p14="http://schemas.microsoft.com/office/powerpoint/2010/main" val="366340186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www.isis.stfc.ac.uk/images/instruments/pearl/pearl-upgrade-schematic-drawing12388.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43608" y="701988"/>
            <a:ext cx="3170923" cy="2448272"/>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971600" y="332656"/>
            <a:ext cx="2512034" cy="369332"/>
          </a:xfrm>
          <a:prstGeom prst="rect">
            <a:avLst/>
          </a:prstGeom>
          <a:noFill/>
        </p:spPr>
        <p:txBody>
          <a:bodyPr wrap="none" rtlCol="0">
            <a:spAutoFit/>
          </a:bodyPr>
          <a:lstStyle/>
          <a:p>
            <a:r>
              <a:rPr lang="en-GB" dirty="0" smtClean="0"/>
              <a:t>Instrument (Pearl) at ISIS</a:t>
            </a:r>
            <a:endParaRPr lang="en-GB" dirty="0"/>
          </a:p>
        </p:txBody>
      </p:sp>
      <p:cxnSp>
        <p:nvCxnSpPr>
          <p:cNvPr id="4" name="Straight Arrow Connector 3"/>
          <p:cNvCxnSpPr>
            <a:stCxn id="1026" idx="3"/>
          </p:cNvCxnSpPr>
          <p:nvPr/>
        </p:nvCxnSpPr>
        <p:spPr>
          <a:xfrm>
            <a:off x="4214531" y="1926124"/>
            <a:ext cx="1653613" cy="955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4499992" y="1494076"/>
            <a:ext cx="863121" cy="369332"/>
          </a:xfrm>
          <a:prstGeom prst="rect">
            <a:avLst/>
          </a:prstGeom>
          <a:noFill/>
        </p:spPr>
        <p:txBody>
          <a:bodyPr wrap="none" rtlCol="0">
            <a:spAutoFit/>
          </a:bodyPr>
          <a:lstStyle/>
          <a:p>
            <a:r>
              <a:rPr lang="en-GB" dirty="0" smtClean="0"/>
              <a:t>creates</a:t>
            </a:r>
            <a:endParaRPr lang="en-GB" dirty="0"/>
          </a:p>
        </p:txBody>
      </p:sp>
      <p:pic>
        <p:nvPicPr>
          <p:cNvPr id="1029" name="Picture 5" descr="https://upload.wikimedia.org/wikipedia/commons/2/26/Pacman_HD.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96344" y="3789040"/>
            <a:ext cx="2059832" cy="2059832"/>
          </a:xfrm>
          <a:prstGeom prst="rect">
            <a:avLst/>
          </a:prstGeom>
          <a:noFill/>
          <a:extLst>
            <a:ext uri="{909E8E84-426E-40DD-AFC4-6F175D3DCCD1}">
              <a14:hiddenFill xmlns:a14="http://schemas.microsoft.com/office/drawing/2010/main">
                <a:solidFill>
                  <a:srgbClr val="FFFFFF"/>
                </a:solidFill>
              </a14:hiddenFill>
            </a:ext>
          </a:extLst>
        </p:spPr>
      </p:pic>
      <p:cxnSp>
        <p:nvCxnSpPr>
          <p:cNvPr id="8" name="Elbow Connector 7"/>
          <p:cNvCxnSpPr>
            <a:stCxn id="6" idx="2"/>
            <a:endCxn id="1029" idx="3"/>
          </p:cNvCxnSpPr>
          <p:nvPr/>
        </p:nvCxnSpPr>
        <p:spPr>
          <a:xfrm rot="5400000">
            <a:off x="5562434" y="3455971"/>
            <a:ext cx="1956728" cy="769243"/>
          </a:xfrm>
          <a:prstGeom prst="bentConnector2">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6156176" y="4355812"/>
            <a:ext cx="702436" cy="369332"/>
          </a:xfrm>
          <a:prstGeom prst="rect">
            <a:avLst/>
          </a:prstGeom>
          <a:noFill/>
        </p:spPr>
        <p:txBody>
          <a:bodyPr wrap="none" rtlCol="0">
            <a:spAutoFit/>
          </a:bodyPr>
          <a:lstStyle/>
          <a:p>
            <a:r>
              <a:rPr lang="en-GB" dirty="0" smtClean="0"/>
              <a:t>data</a:t>
            </a:r>
            <a:endParaRPr lang="en-GB" dirty="0"/>
          </a:p>
        </p:txBody>
      </p:sp>
      <p:sp>
        <p:nvSpPr>
          <p:cNvPr id="10" name="TextBox 9"/>
          <p:cNvSpPr txBox="1"/>
          <p:nvPr/>
        </p:nvSpPr>
        <p:spPr>
          <a:xfrm>
            <a:off x="4139952" y="3356992"/>
            <a:ext cx="1614096" cy="369332"/>
          </a:xfrm>
          <a:prstGeom prst="rect">
            <a:avLst/>
          </a:prstGeom>
          <a:noFill/>
        </p:spPr>
        <p:txBody>
          <a:bodyPr wrap="none" rtlCol="0">
            <a:spAutoFit/>
          </a:bodyPr>
          <a:lstStyle/>
          <a:p>
            <a:r>
              <a:rPr lang="en-GB" dirty="0" smtClean="0"/>
              <a:t>Auto-reduction</a:t>
            </a:r>
            <a:endParaRPr lang="en-GB" dirty="0"/>
          </a:p>
        </p:txBody>
      </p:sp>
      <p:pic>
        <p:nvPicPr>
          <p:cNvPr id="1031" name="Picture 7" descr="http://www.clker.com/cliparts/0/c/d/c/13534484091731274745New%20File%20Symbol.svg.med.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081133" y="4664100"/>
            <a:ext cx="551535" cy="709116"/>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p:cNvSpPr txBox="1"/>
          <p:nvPr/>
        </p:nvSpPr>
        <p:spPr>
          <a:xfrm>
            <a:off x="6012160" y="5003884"/>
            <a:ext cx="2071401" cy="369332"/>
          </a:xfrm>
          <a:prstGeom prst="rect">
            <a:avLst/>
          </a:prstGeom>
          <a:noFill/>
        </p:spPr>
        <p:txBody>
          <a:bodyPr wrap="none" rtlCol="0">
            <a:spAutoFit/>
          </a:bodyPr>
          <a:lstStyle/>
          <a:p>
            <a:r>
              <a:rPr lang="en-GB" dirty="0"/>
              <a:t>r</a:t>
            </a:r>
            <a:r>
              <a:rPr lang="en-GB" dirty="0" smtClean="0"/>
              <a:t>eduction script</a:t>
            </a:r>
            <a:endParaRPr lang="en-GB" dirty="0"/>
          </a:p>
        </p:txBody>
      </p:sp>
      <p:sp>
        <p:nvSpPr>
          <p:cNvPr id="12" name="Rounded Rectangle 11"/>
          <p:cNvSpPr/>
          <p:nvPr/>
        </p:nvSpPr>
        <p:spPr>
          <a:xfrm>
            <a:off x="611560" y="4005064"/>
            <a:ext cx="2520280" cy="1650717"/>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solidFill>
                  <a:schemeClr val="tx1"/>
                </a:solidFill>
              </a:rPr>
              <a:t>Reduced files and reduction logs</a:t>
            </a:r>
            <a:endParaRPr lang="en-GB" dirty="0">
              <a:solidFill>
                <a:schemeClr val="tx1"/>
              </a:solidFill>
            </a:endParaRPr>
          </a:p>
        </p:txBody>
      </p:sp>
      <p:cxnSp>
        <p:nvCxnSpPr>
          <p:cNvPr id="16" name="Straight Arrow Connector 15"/>
          <p:cNvCxnSpPr>
            <a:stCxn id="1029" idx="1"/>
            <a:endCxn id="12" idx="3"/>
          </p:cNvCxnSpPr>
          <p:nvPr/>
        </p:nvCxnSpPr>
        <p:spPr>
          <a:xfrm flipH="1">
            <a:off x="3131840" y="4818956"/>
            <a:ext cx="964504" cy="11467"/>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pic>
        <p:nvPicPr>
          <p:cNvPr id="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68144" y="528603"/>
            <a:ext cx="2114550" cy="2333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TextBox 12"/>
          <p:cNvSpPr txBox="1"/>
          <p:nvPr/>
        </p:nvSpPr>
        <p:spPr>
          <a:xfrm>
            <a:off x="4499992" y="1916832"/>
            <a:ext cx="702436" cy="369332"/>
          </a:xfrm>
          <a:prstGeom prst="rect">
            <a:avLst/>
          </a:prstGeom>
          <a:noFill/>
        </p:spPr>
        <p:txBody>
          <a:bodyPr wrap="none" rtlCol="0">
            <a:spAutoFit/>
          </a:bodyPr>
          <a:lstStyle/>
          <a:p>
            <a:r>
              <a:rPr lang="en-GB" dirty="0" smtClean="0"/>
              <a:t>data</a:t>
            </a:r>
            <a:endParaRPr lang="en-GB" dirty="0"/>
          </a:p>
        </p:txBody>
      </p:sp>
      <p:cxnSp>
        <p:nvCxnSpPr>
          <p:cNvPr id="15" name="Straight Arrow Connector 14"/>
          <p:cNvCxnSpPr>
            <a:stCxn id="1031" idx="1"/>
          </p:cNvCxnSpPr>
          <p:nvPr/>
        </p:nvCxnSpPr>
        <p:spPr bwMode="auto">
          <a:xfrm flipH="1" flipV="1">
            <a:off x="6184396" y="4962973"/>
            <a:ext cx="1896737" cy="55685"/>
          </a:xfrm>
          <a:prstGeom prst="straightConnector1">
            <a:avLst/>
          </a:prstGeom>
          <a:solidFill>
            <a:schemeClr val="accent1"/>
          </a:solidFill>
          <a:ln w="38100" cap="flat" cmpd="sng" algn="ctr">
            <a:solidFill>
              <a:srgbClr val="FF0000"/>
            </a:solidFill>
            <a:prstDash val="solid"/>
            <a:round/>
            <a:headEnd type="none" w="med" len="med"/>
            <a:tailEnd type="arrow"/>
          </a:ln>
          <a:effectLst/>
        </p:spPr>
      </p:cxnSp>
    </p:spTree>
    <p:extLst>
      <p:ext uri="{BB962C8B-B14F-4D97-AF65-F5344CB8AC3E}">
        <p14:creationId xmlns:p14="http://schemas.microsoft.com/office/powerpoint/2010/main" val="371099462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What is the purpose of automation?</a:t>
            </a:r>
            <a:br>
              <a:rPr lang="en-GB" dirty="0" smtClean="0"/>
            </a:br>
            <a:endParaRPr lang="en-GB" dirty="0"/>
          </a:p>
        </p:txBody>
      </p:sp>
      <p:sp>
        <p:nvSpPr>
          <p:cNvPr id="3" name="Content Placeholder 2"/>
          <p:cNvSpPr>
            <a:spLocks noGrp="1"/>
          </p:cNvSpPr>
          <p:nvPr>
            <p:ph idx="1"/>
          </p:nvPr>
        </p:nvSpPr>
        <p:spPr/>
        <p:txBody>
          <a:bodyPr/>
          <a:lstStyle/>
          <a:p>
            <a:pPr marL="0" indent="0">
              <a:buNone/>
            </a:pPr>
            <a:r>
              <a:rPr lang="en-GB" dirty="0" smtClean="0">
                <a:solidFill>
                  <a:srgbClr val="FF0000"/>
                </a:solidFill>
              </a:rPr>
              <a:t>Primary aim is to free </a:t>
            </a:r>
            <a:r>
              <a:rPr lang="en-GB" dirty="0">
                <a:solidFill>
                  <a:srgbClr val="FF0000"/>
                </a:solidFill>
              </a:rPr>
              <a:t>up </a:t>
            </a:r>
            <a:r>
              <a:rPr lang="en-GB" dirty="0" smtClean="0">
                <a:solidFill>
                  <a:srgbClr val="FF0000"/>
                </a:solidFill>
              </a:rPr>
              <a:t>instrument </a:t>
            </a:r>
            <a:r>
              <a:rPr lang="en-GB" dirty="0">
                <a:solidFill>
                  <a:srgbClr val="FF0000"/>
                </a:solidFill>
              </a:rPr>
              <a:t>scientists and users </a:t>
            </a:r>
            <a:r>
              <a:rPr lang="en-GB" dirty="0" smtClean="0">
                <a:solidFill>
                  <a:srgbClr val="FF0000"/>
                </a:solidFill>
              </a:rPr>
              <a:t>time</a:t>
            </a:r>
          </a:p>
          <a:p>
            <a:pPr marL="0" indent="0">
              <a:buNone/>
            </a:pPr>
            <a:endParaRPr lang="en-GB" dirty="0" smtClean="0"/>
          </a:p>
          <a:p>
            <a:pPr marL="0" indent="0">
              <a:buNone/>
            </a:pPr>
            <a:r>
              <a:rPr lang="en-GB" dirty="0" smtClean="0">
                <a:solidFill>
                  <a:srgbClr val="00B050"/>
                </a:solidFill>
              </a:rPr>
              <a:t>Secondary aim make better use of compute resources </a:t>
            </a:r>
          </a:p>
          <a:p>
            <a:pPr marL="0" indent="0">
              <a:buNone/>
            </a:pPr>
            <a:endParaRPr lang="en-GB" dirty="0"/>
          </a:p>
          <a:p>
            <a:pPr marL="0" indent="0">
              <a:buNone/>
            </a:pPr>
            <a:r>
              <a:rPr lang="en-GB" dirty="0" smtClean="0">
                <a:solidFill>
                  <a:srgbClr val="FFC000"/>
                </a:solidFill>
              </a:rPr>
              <a:t>Other: ensure cataloguing of reduced data and/or reduction scripts</a:t>
            </a:r>
            <a:endParaRPr lang="en-GB" dirty="0">
              <a:solidFill>
                <a:srgbClr val="FFC000"/>
              </a:solidFill>
            </a:endParaRPr>
          </a:p>
        </p:txBody>
      </p:sp>
    </p:spTree>
    <p:extLst>
      <p:ext uri="{BB962C8B-B14F-4D97-AF65-F5344CB8AC3E}">
        <p14:creationId xmlns:p14="http://schemas.microsoft.com/office/powerpoint/2010/main" val="155571845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Scenario – Automated beamline</a:t>
            </a:r>
            <a:endParaRPr lang="en-GB" dirty="0"/>
          </a:p>
        </p:txBody>
      </p:sp>
      <p:sp>
        <p:nvSpPr>
          <p:cNvPr id="3" name="Content Placeholder 2"/>
          <p:cNvSpPr>
            <a:spLocks noGrp="1"/>
          </p:cNvSpPr>
          <p:nvPr>
            <p:ph idx="1"/>
          </p:nvPr>
        </p:nvSpPr>
        <p:spPr/>
        <p:txBody>
          <a:bodyPr/>
          <a:lstStyle/>
          <a:p>
            <a:pPr marL="0" indent="0">
              <a:buNone/>
            </a:pPr>
            <a:r>
              <a:rPr lang="en-GB" dirty="0" smtClean="0"/>
              <a:t>Beamline where: </a:t>
            </a:r>
          </a:p>
          <a:p>
            <a:r>
              <a:rPr lang="en-GB" dirty="0" smtClean="0"/>
              <a:t>very similar experiments done</a:t>
            </a:r>
          </a:p>
          <a:p>
            <a:r>
              <a:rPr lang="en-GB" dirty="0" smtClean="0"/>
              <a:t>users may rarely visit the beamline </a:t>
            </a:r>
          </a:p>
          <a:p>
            <a:endParaRPr lang="en-GB" dirty="0"/>
          </a:p>
          <a:p>
            <a:pPr marL="0" indent="0">
              <a:buNone/>
            </a:pPr>
            <a:r>
              <a:rPr lang="en-GB" dirty="0"/>
              <a:t>T</a:t>
            </a:r>
            <a:r>
              <a:rPr lang="en-GB" dirty="0" smtClean="0"/>
              <a:t>he automated service assists the instrument scientists in producing reduced data </a:t>
            </a:r>
            <a:endParaRPr lang="en-GB" dirty="0"/>
          </a:p>
        </p:txBody>
      </p:sp>
    </p:spTree>
    <p:extLst>
      <p:ext uri="{BB962C8B-B14F-4D97-AF65-F5344CB8AC3E}">
        <p14:creationId xmlns:p14="http://schemas.microsoft.com/office/powerpoint/2010/main" val="392733988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Scenario – instrument scientist and user want to go to bed</a:t>
            </a:r>
            <a:endParaRPr lang="en-GB" dirty="0"/>
          </a:p>
        </p:txBody>
      </p:sp>
      <p:sp>
        <p:nvSpPr>
          <p:cNvPr id="3" name="Content Placeholder 2"/>
          <p:cNvSpPr>
            <a:spLocks noGrp="1"/>
          </p:cNvSpPr>
          <p:nvPr>
            <p:ph idx="1"/>
          </p:nvPr>
        </p:nvSpPr>
        <p:spPr/>
        <p:txBody>
          <a:bodyPr>
            <a:normAutofit/>
          </a:bodyPr>
          <a:lstStyle/>
          <a:p>
            <a:r>
              <a:rPr lang="en-GB" dirty="0" smtClean="0"/>
              <a:t>Instrument scientists and users worked hard at getting experiment setup. Perhaps: adjust various beamline components, fix a broken pump, collected empty sample data, do various scans to check that the sample is anything like it should be etc… until eventually ready to collect useful data but now too tired to sit and watch data coming through and manually reduce these…</a:t>
            </a:r>
            <a:endParaRPr lang="en-GB" dirty="0"/>
          </a:p>
        </p:txBody>
      </p:sp>
    </p:spTree>
    <p:extLst>
      <p:ext uri="{BB962C8B-B14F-4D97-AF65-F5344CB8AC3E}">
        <p14:creationId xmlns:p14="http://schemas.microsoft.com/office/powerpoint/2010/main" val="212190832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smtClean="0"/>
              <a:t>User requirements</a:t>
            </a:r>
            <a:endParaRPr lang="en-GB" dirty="0"/>
          </a:p>
        </p:txBody>
      </p:sp>
      <p:sp>
        <p:nvSpPr>
          <p:cNvPr id="3" name="Content Placeholder 2"/>
          <p:cNvSpPr>
            <a:spLocks noGrp="1"/>
          </p:cNvSpPr>
          <p:nvPr>
            <p:ph idx="1"/>
          </p:nvPr>
        </p:nvSpPr>
        <p:spPr/>
        <p:txBody>
          <a:bodyPr>
            <a:normAutofit/>
          </a:bodyPr>
          <a:lstStyle/>
          <a:p>
            <a:pPr marL="0" indent="0">
              <a:buNone/>
            </a:pPr>
            <a:r>
              <a:rPr lang="en-GB" dirty="0" smtClean="0"/>
              <a:t>Most</a:t>
            </a:r>
          </a:p>
          <a:p>
            <a:r>
              <a:rPr lang="en-GB" dirty="0" smtClean="0">
                <a:solidFill>
                  <a:srgbClr val="FF0000"/>
                </a:solidFill>
              </a:rPr>
              <a:t>Must be able to update reduction script</a:t>
            </a:r>
          </a:p>
          <a:p>
            <a:r>
              <a:rPr lang="en-GB" dirty="0" smtClean="0">
                <a:solidFill>
                  <a:srgbClr val="FF0000"/>
                </a:solidFill>
              </a:rPr>
              <a:t>Must be able to access the reduced data and reduction logs</a:t>
            </a:r>
            <a:endParaRPr lang="en-GB" dirty="0">
              <a:solidFill>
                <a:srgbClr val="FF0000"/>
              </a:solidFill>
            </a:endParaRPr>
          </a:p>
          <a:p>
            <a:pPr marL="0" indent="0">
              <a:buNone/>
            </a:pPr>
            <a:endParaRPr lang="en-GB" dirty="0" smtClean="0"/>
          </a:p>
          <a:p>
            <a:pPr marL="0" indent="0">
              <a:buNone/>
            </a:pPr>
            <a:r>
              <a:rPr lang="en-GB" dirty="0" smtClean="0"/>
              <a:t>Strong should have</a:t>
            </a:r>
          </a:p>
          <a:p>
            <a:r>
              <a:rPr lang="en-GB" dirty="0">
                <a:solidFill>
                  <a:srgbClr val="00B050"/>
                </a:solidFill>
              </a:rPr>
              <a:t>T</a:t>
            </a:r>
            <a:r>
              <a:rPr lang="en-GB" dirty="0" smtClean="0">
                <a:solidFill>
                  <a:srgbClr val="00B050"/>
                </a:solidFill>
              </a:rPr>
              <a:t>urn </a:t>
            </a:r>
            <a:r>
              <a:rPr lang="en-GB" dirty="0">
                <a:solidFill>
                  <a:srgbClr val="00B050"/>
                </a:solidFill>
              </a:rPr>
              <a:t>automation on and </a:t>
            </a:r>
            <a:r>
              <a:rPr lang="en-GB" dirty="0" smtClean="0">
                <a:solidFill>
                  <a:srgbClr val="00B050"/>
                </a:solidFill>
              </a:rPr>
              <a:t>off</a:t>
            </a:r>
          </a:p>
          <a:p>
            <a:r>
              <a:rPr lang="en-GB" dirty="0">
                <a:solidFill>
                  <a:srgbClr val="00B050"/>
                </a:solidFill>
              </a:rPr>
              <a:t>Job queue monitor</a:t>
            </a:r>
          </a:p>
          <a:p>
            <a:endParaRPr lang="en-GB" dirty="0">
              <a:solidFill>
                <a:srgbClr val="00B050"/>
              </a:solidFill>
            </a:endParaRPr>
          </a:p>
          <a:p>
            <a:pPr marL="0" indent="0">
              <a:buNone/>
            </a:pPr>
            <a:endParaRPr lang="en-GB" dirty="0" smtClean="0"/>
          </a:p>
        </p:txBody>
      </p:sp>
    </p:spTree>
    <p:extLst>
      <p:ext uri="{BB962C8B-B14F-4D97-AF65-F5344CB8AC3E}">
        <p14:creationId xmlns:p14="http://schemas.microsoft.com/office/powerpoint/2010/main" val="421252575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lang="en-GB" dirty="0"/>
              <a:t>User </a:t>
            </a:r>
            <a:r>
              <a:rPr lang="en-GB" dirty="0" smtClean="0"/>
              <a:t>requirements</a:t>
            </a:r>
            <a:endParaRPr lang="en-GB" dirty="0"/>
          </a:p>
        </p:txBody>
      </p:sp>
      <p:sp>
        <p:nvSpPr>
          <p:cNvPr id="3" name="Content Placeholder 2"/>
          <p:cNvSpPr>
            <a:spLocks noGrp="1"/>
          </p:cNvSpPr>
          <p:nvPr>
            <p:ph idx="1"/>
          </p:nvPr>
        </p:nvSpPr>
        <p:spPr>
          <a:xfrm>
            <a:off x="395536" y="1743993"/>
            <a:ext cx="8229600" cy="2837135"/>
          </a:xfrm>
        </p:spPr>
        <p:txBody>
          <a:bodyPr/>
          <a:lstStyle/>
          <a:p>
            <a:pPr marL="0" indent="0">
              <a:buNone/>
            </a:pPr>
            <a:r>
              <a:rPr lang="en-GB" dirty="0" smtClean="0"/>
              <a:t>Most/should/maybe:</a:t>
            </a:r>
            <a:endParaRPr lang="en-GB" dirty="0">
              <a:solidFill>
                <a:srgbClr val="00B050"/>
              </a:solidFill>
            </a:endParaRPr>
          </a:p>
          <a:p>
            <a:r>
              <a:rPr lang="en-GB" dirty="0" smtClean="0">
                <a:solidFill>
                  <a:srgbClr val="00B050"/>
                </a:solidFill>
              </a:rPr>
              <a:t>Scheduling</a:t>
            </a:r>
            <a:endParaRPr lang="en-GB" dirty="0">
              <a:solidFill>
                <a:srgbClr val="00B050"/>
              </a:solidFill>
            </a:endParaRPr>
          </a:p>
          <a:p>
            <a:r>
              <a:rPr lang="en-GB" dirty="0">
                <a:solidFill>
                  <a:srgbClr val="00B050"/>
                </a:solidFill>
              </a:rPr>
              <a:t>Re-run </a:t>
            </a:r>
            <a:r>
              <a:rPr lang="en-GB" dirty="0" smtClean="0">
                <a:solidFill>
                  <a:srgbClr val="00B050"/>
                </a:solidFill>
              </a:rPr>
              <a:t>reduction jobs (change variables)</a:t>
            </a:r>
          </a:p>
          <a:p>
            <a:r>
              <a:rPr lang="en-GB" dirty="0">
                <a:solidFill>
                  <a:srgbClr val="00B050"/>
                </a:solidFill>
              </a:rPr>
              <a:t>D</a:t>
            </a:r>
            <a:r>
              <a:rPr lang="en-GB" dirty="0" smtClean="0">
                <a:solidFill>
                  <a:srgbClr val="00B050"/>
                </a:solidFill>
              </a:rPr>
              <a:t>isplay of reduction run diagnosis and process to help with debugging failed runs</a:t>
            </a:r>
          </a:p>
          <a:p>
            <a:endParaRPr lang="en-GB" dirty="0"/>
          </a:p>
          <a:p>
            <a:endParaRPr lang="en-GB" dirty="0"/>
          </a:p>
        </p:txBody>
      </p:sp>
    </p:spTree>
    <p:extLst>
      <p:ext uri="{BB962C8B-B14F-4D97-AF65-F5344CB8AC3E}">
        <p14:creationId xmlns:p14="http://schemas.microsoft.com/office/powerpoint/2010/main" val="4447392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5" descr="https://upload.wikimedia.org/wikipedia/commons/2/26/Pacman_HD.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96116" y="908720"/>
            <a:ext cx="2059832" cy="205983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6245828" y="1475492"/>
            <a:ext cx="702436" cy="369332"/>
          </a:xfrm>
          <a:prstGeom prst="rect">
            <a:avLst/>
          </a:prstGeom>
          <a:noFill/>
        </p:spPr>
        <p:txBody>
          <a:bodyPr wrap="none" rtlCol="0">
            <a:spAutoFit/>
          </a:bodyPr>
          <a:lstStyle/>
          <a:p>
            <a:r>
              <a:rPr lang="en-GB" dirty="0" smtClean="0"/>
              <a:t>data</a:t>
            </a:r>
            <a:endParaRPr lang="en-GB" dirty="0"/>
          </a:p>
        </p:txBody>
      </p:sp>
      <p:sp>
        <p:nvSpPr>
          <p:cNvPr id="5" name="TextBox 4"/>
          <p:cNvSpPr txBox="1"/>
          <p:nvPr/>
        </p:nvSpPr>
        <p:spPr>
          <a:xfrm>
            <a:off x="4039724" y="476672"/>
            <a:ext cx="1614096" cy="369332"/>
          </a:xfrm>
          <a:prstGeom prst="rect">
            <a:avLst/>
          </a:prstGeom>
          <a:noFill/>
        </p:spPr>
        <p:txBody>
          <a:bodyPr wrap="none" rtlCol="0">
            <a:spAutoFit/>
          </a:bodyPr>
          <a:lstStyle/>
          <a:p>
            <a:r>
              <a:rPr lang="en-GB" dirty="0" smtClean="0"/>
              <a:t>Auto-reduction</a:t>
            </a:r>
            <a:endParaRPr lang="en-GB" dirty="0"/>
          </a:p>
        </p:txBody>
      </p:sp>
      <p:pic>
        <p:nvPicPr>
          <p:cNvPr id="6" name="Picture 7" descr="http://www.clker.com/cliparts/0/c/d/c/13534484091731274745New%20File%20Symbol.svg.med.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905" y="1783780"/>
            <a:ext cx="551535" cy="70911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5911932" y="2123564"/>
            <a:ext cx="2071401" cy="369332"/>
          </a:xfrm>
          <a:prstGeom prst="rect">
            <a:avLst/>
          </a:prstGeom>
          <a:noFill/>
        </p:spPr>
        <p:txBody>
          <a:bodyPr wrap="none" rtlCol="0">
            <a:spAutoFit/>
          </a:bodyPr>
          <a:lstStyle/>
          <a:p>
            <a:r>
              <a:rPr lang="en-GB" dirty="0"/>
              <a:t>r</a:t>
            </a:r>
            <a:r>
              <a:rPr lang="en-GB" dirty="0" smtClean="0"/>
              <a:t>eduction script</a:t>
            </a:r>
            <a:endParaRPr lang="en-GB" dirty="0"/>
          </a:p>
        </p:txBody>
      </p:sp>
      <p:sp>
        <p:nvSpPr>
          <p:cNvPr id="8" name="Rounded Rectangle 7"/>
          <p:cNvSpPr/>
          <p:nvPr/>
        </p:nvSpPr>
        <p:spPr>
          <a:xfrm>
            <a:off x="511332" y="1124744"/>
            <a:ext cx="2520280" cy="1650717"/>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solidFill>
                  <a:schemeClr val="tx1"/>
                </a:solidFill>
              </a:rPr>
              <a:t>Reduced files and reduction logs</a:t>
            </a:r>
            <a:endParaRPr lang="en-GB" dirty="0">
              <a:solidFill>
                <a:schemeClr val="tx1"/>
              </a:solidFill>
            </a:endParaRPr>
          </a:p>
        </p:txBody>
      </p:sp>
      <p:cxnSp>
        <p:nvCxnSpPr>
          <p:cNvPr id="9" name="Straight Arrow Connector 8"/>
          <p:cNvCxnSpPr>
            <a:stCxn id="3" idx="1"/>
            <a:endCxn id="8" idx="3"/>
          </p:cNvCxnSpPr>
          <p:nvPr/>
        </p:nvCxnSpPr>
        <p:spPr>
          <a:xfrm flipH="1">
            <a:off x="3031612" y="1938636"/>
            <a:ext cx="964504" cy="11467"/>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6" idx="1"/>
          </p:cNvCxnSpPr>
          <p:nvPr/>
        </p:nvCxnSpPr>
        <p:spPr bwMode="auto">
          <a:xfrm flipH="1" flipV="1">
            <a:off x="6084168" y="2082653"/>
            <a:ext cx="1896737" cy="55685"/>
          </a:xfrm>
          <a:prstGeom prst="straightConnector1">
            <a:avLst/>
          </a:prstGeom>
          <a:solidFill>
            <a:schemeClr val="accent1"/>
          </a:solidFill>
          <a:ln w="38100" cap="flat" cmpd="sng" algn="ctr">
            <a:solidFill>
              <a:srgbClr val="FF0000"/>
            </a:solidFill>
            <a:prstDash val="solid"/>
            <a:round/>
            <a:headEnd type="none" w="med" len="med"/>
            <a:tailEnd type="arrow"/>
          </a:ln>
          <a:effectLst/>
        </p:spPr>
      </p:cxnSp>
      <p:cxnSp>
        <p:nvCxnSpPr>
          <p:cNvPr id="12" name="Straight Arrow Connector 11"/>
          <p:cNvCxnSpPr/>
          <p:nvPr/>
        </p:nvCxnSpPr>
        <p:spPr bwMode="auto">
          <a:xfrm flipV="1">
            <a:off x="4355976" y="2708920"/>
            <a:ext cx="3528392" cy="1296144"/>
          </a:xfrm>
          <a:prstGeom prst="straightConnector1">
            <a:avLst/>
          </a:prstGeom>
          <a:solidFill>
            <a:schemeClr val="accent1"/>
          </a:solidFill>
          <a:ln w="38100" cap="flat" cmpd="sng" algn="ctr">
            <a:solidFill>
              <a:schemeClr val="tx1"/>
            </a:solidFill>
            <a:prstDash val="sysDot"/>
            <a:round/>
            <a:headEnd type="none" w="med" len="med"/>
            <a:tailEnd type="arrow"/>
          </a:ln>
          <a:effectLst/>
        </p:spPr>
      </p:cxnSp>
      <p:sp>
        <p:nvSpPr>
          <p:cNvPr id="13" name="TextBox 12"/>
          <p:cNvSpPr txBox="1"/>
          <p:nvPr/>
        </p:nvSpPr>
        <p:spPr>
          <a:xfrm>
            <a:off x="2267744" y="4005064"/>
            <a:ext cx="3727302" cy="1200329"/>
          </a:xfrm>
          <a:prstGeom prst="rect">
            <a:avLst/>
          </a:prstGeom>
          <a:noFill/>
        </p:spPr>
        <p:txBody>
          <a:bodyPr wrap="none" rtlCol="0">
            <a:spAutoFit/>
          </a:bodyPr>
          <a:lstStyle/>
          <a:p>
            <a:r>
              <a:rPr lang="en-GB" sz="3600" dirty="0"/>
              <a:t>r</a:t>
            </a:r>
            <a:r>
              <a:rPr lang="en-GB" sz="3600" dirty="0" smtClean="0"/>
              <a:t>educe.py</a:t>
            </a:r>
          </a:p>
          <a:p>
            <a:r>
              <a:rPr lang="en-GB" sz="3600" dirty="0"/>
              <a:t>r</a:t>
            </a:r>
            <a:r>
              <a:rPr lang="en-GB" sz="3600" dirty="0" smtClean="0"/>
              <a:t>educe_vars.py</a:t>
            </a:r>
            <a:endParaRPr lang="en-GB" sz="3600" dirty="0"/>
          </a:p>
        </p:txBody>
      </p:sp>
      <p:cxnSp>
        <p:nvCxnSpPr>
          <p:cNvPr id="16" name="Straight Arrow Connector 15"/>
          <p:cNvCxnSpPr/>
          <p:nvPr/>
        </p:nvCxnSpPr>
        <p:spPr bwMode="auto">
          <a:xfrm flipH="1">
            <a:off x="6084168" y="1844824"/>
            <a:ext cx="1008112" cy="0"/>
          </a:xfrm>
          <a:prstGeom prst="straightConnector1">
            <a:avLst/>
          </a:prstGeom>
          <a:solidFill>
            <a:schemeClr val="accent1"/>
          </a:solidFill>
          <a:ln w="38100" cap="flat" cmpd="sng" algn="ctr">
            <a:solidFill>
              <a:srgbClr val="FF0000"/>
            </a:solidFill>
            <a:prstDash val="solid"/>
            <a:round/>
            <a:headEnd type="none" w="med" len="med"/>
            <a:tailEnd type="arrow"/>
          </a:ln>
          <a:effectLst/>
        </p:spPr>
      </p:cxnSp>
    </p:spTree>
    <p:extLst>
      <p:ext uri="{BB962C8B-B14F-4D97-AF65-F5344CB8AC3E}">
        <p14:creationId xmlns:p14="http://schemas.microsoft.com/office/powerpoint/2010/main" val="2016003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5" descr="https://upload.wikimedia.org/wikipedia/commons/2/26/Pacman_HD.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96116" y="908720"/>
            <a:ext cx="2059832" cy="205983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6245828" y="1475492"/>
            <a:ext cx="702436" cy="369332"/>
          </a:xfrm>
          <a:prstGeom prst="rect">
            <a:avLst/>
          </a:prstGeom>
          <a:noFill/>
        </p:spPr>
        <p:txBody>
          <a:bodyPr wrap="none" rtlCol="0">
            <a:spAutoFit/>
          </a:bodyPr>
          <a:lstStyle/>
          <a:p>
            <a:r>
              <a:rPr lang="en-GB" dirty="0" smtClean="0"/>
              <a:t>data</a:t>
            </a:r>
            <a:endParaRPr lang="en-GB" dirty="0"/>
          </a:p>
        </p:txBody>
      </p:sp>
      <p:sp>
        <p:nvSpPr>
          <p:cNvPr id="5" name="TextBox 4"/>
          <p:cNvSpPr txBox="1"/>
          <p:nvPr/>
        </p:nvSpPr>
        <p:spPr>
          <a:xfrm>
            <a:off x="4039724" y="476672"/>
            <a:ext cx="1614096" cy="369332"/>
          </a:xfrm>
          <a:prstGeom prst="rect">
            <a:avLst/>
          </a:prstGeom>
          <a:noFill/>
        </p:spPr>
        <p:txBody>
          <a:bodyPr wrap="none" rtlCol="0">
            <a:spAutoFit/>
          </a:bodyPr>
          <a:lstStyle/>
          <a:p>
            <a:r>
              <a:rPr lang="en-GB" dirty="0" smtClean="0"/>
              <a:t>Auto-reduction</a:t>
            </a:r>
            <a:endParaRPr lang="en-GB" dirty="0"/>
          </a:p>
        </p:txBody>
      </p:sp>
      <p:pic>
        <p:nvPicPr>
          <p:cNvPr id="6" name="Picture 7" descr="http://www.clker.com/cliparts/0/c/d/c/13534484091731274745New%20File%20Symbol.svg.med.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905" y="1783780"/>
            <a:ext cx="551535" cy="70911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5911932" y="2123564"/>
            <a:ext cx="2071401" cy="369332"/>
          </a:xfrm>
          <a:prstGeom prst="rect">
            <a:avLst/>
          </a:prstGeom>
          <a:noFill/>
        </p:spPr>
        <p:txBody>
          <a:bodyPr wrap="none" rtlCol="0">
            <a:spAutoFit/>
          </a:bodyPr>
          <a:lstStyle/>
          <a:p>
            <a:r>
              <a:rPr lang="en-GB" dirty="0"/>
              <a:t>r</a:t>
            </a:r>
            <a:r>
              <a:rPr lang="en-GB" dirty="0" smtClean="0"/>
              <a:t>eduction script</a:t>
            </a:r>
            <a:endParaRPr lang="en-GB" dirty="0"/>
          </a:p>
        </p:txBody>
      </p:sp>
      <p:sp>
        <p:nvSpPr>
          <p:cNvPr id="8" name="Rounded Rectangle 7"/>
          <p:cNvSpPr/>
          <p:nvPr/>
        </p:nvSpPr>
        <p:spPr>
          <a:xfrm>
            <a:off x="511332" y="1124744"/>
            <a:ext cx="2520280" cy="1650717"/>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solidFill>
                  <a:schemeClr val="tx1"/>
                </a:solidFill>
              </a:rPr>
              <a:t>Reduced files and reduction logs</a:t>
            </a:r>
            <a:endParaRPr lang="en-GB" dirty="0">
              <a:solidFill>
                <a:schemeClr val="tx1"/>
              </a:solidFill>
            </a:endParaRPr>
          </a:p>
        </p:txBody>
      </p:sp>
      <p:cxnSp>
        <p:nvCxnSpPr>
          <p:cNvPr id="9" name="Straight Arrow Connector 8"/>
          <p:cNvCxnSpPr>
            <a:stCxn id="3" idx="1"/>
            <a:endCxn id="8" idx="3"/>
          </p:cNvCxnSpPr>
          <p:nvPr/>
        </p:nvCxnSpPr>
        <p:spPr>
          <a:xfrm flipH="1">
            <a:off x="3031612" y="1938636"/>
            <a:ext cx="964504" cy="11467"/>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6" idx="1"/>
          </p:cNvCxnSpPr>
          <p:nvPr/>
        </p:nvCxnSpPr>
        <p:spPr bwMode="auto">
          <a:xfrm flipH="1" flipV="1">
            <a:off x="6084168" y="2082653"/>
            <a:ext cx="1896737" cy="55685"/>
          </a:xfrm>
          <a:prstGeom prst="straightConnector1">
            <a:avLst/>
          </a:prstGeom>
          <a:solidFill>
            <a:schemeClr val="accent1"/>
          </a:solidFill>
          <a:ln w="38100" cap="flat" cmpd="sng" algn="ctr">
            <a:solidFill>
              <a:srgbClr val="FF0000"/>
            </a:solidFill>
            <a:prstDash val="solid"/>
            <a:round/>
            <a:headEnd type="none" w="med" len="med"/>
            <a:tailEnd type="arrow"/>
          </a:ln>
          <a:effectLst/>
        </p:spPr>
      </p:cxnSp>
      <p:cxnSp>
        <p:nvCxnSpPr>
          <p:cNvPr id="16" name="Straight Arrow Connector 15"/>
          <p:cNvCxnSpPr/>
          <p:nvPr/>
        </p:nvCxnSpPr>
        <p:spPr bwMode="auto">
          <a:xfrm flipH="1">
            <a:off x="6084168" y="1844824"/>
            <a:ext cx="1008112" cy="0"/>
          </a:xfrm>
          <a:prstGeom prst="straightConnector1">
            <a:avLst/>
          </a:prstGeom>
          <a:solidFill>
            <a:schemeClr val="accent1"/>
          </a:solidFill>
          <a:ln w="38100" cap="flat" cmpd="sng" algn="ctr">
            <a:solidFill>
              <a:srgbClr val="FF0000"/>
            </a:solidFill>
            <a:prstDash val="solid"/>
            <a:round/>
            <a:headEnd type="none" w="med" len="med"/>
            <a:tailEnd type="arrow"/>
          </a:ln>
          <a:effectLst/>
        </p:spPr>
      </p:cxnSp>
      <p:pic>
        <p:nvPicPr>
          <p:cNvPr id="1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9904" y="2996952"/>
            <a:ext cx="2999748" cy="3024336"/>
          </a:xfrm>
          <a:prstGeom prst="rect">
            <a:avLst/>
          </a:prstGeom>
          <a:noFill/>
          <a:ln w="25400">
            <a:solidFill>
              <a:srgbClr val="007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1" name="Straight Connector 10"/>
          <p:cNvCxnSpPr>
            <a:stCxn id="14" idx="3"/>
            <a:endCxn id="3" idx="2"/>
          </p:cNvCxnSpPr>
          <p:nvPr/>
        </p:nvCxnSpPr>
        <p:spPr bwMode="auto">
          <a:xfrm flipV="1">
            <a:off x="3859652" y="2968552"/>
            <a:ext cx="1166380" cy="1540568"/>
          </a:xfrm>
          <a:prstGeom prst="line">
            <a:avLst/>
          </a:prstGeom>
          <a:solidFill>
            <a:schemeClr val="accent1"/>
          </a:solidFill>
          <a:ln w="38100" cap="flat" cmpd="sng" algn="ctr">
            <a:solidFill>
              <a:schemeClr val="tx1"/>
            </a:solidFill>
            <a:prstDash val="sysDot"/>
            <a:round/>
            <a:headEnd type="none" w="med" len="med"/>
            <a:tailEnd type="none" w="med" len="med"/>
          </a:ln>
          <a:effectLst/>
        </p:spPr>
      </p:cxnSp>
    </p:spTree>
    <p:extLst>
      <p:ext uri="{BB962C8B-B14F-4D97-AF65-F5344CB8AC3E}">
        <p14:creationId xmlns:p14="http://schemas.microsoft.com/office/powerpoint/2010/main" val="24927272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8952" y="944984"/>
            <a:ext cx="6121400" cy="414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Oval 4"/>
          <p:cNvSpPr/>
          <p:nvPr/>
        </p:nvSpPr>
        <p:spPr bwMode="auto">
          <a:xfrm>
            <a:off x="5724128" y="836712"/>
            <a:ext cx="504056" cy="432048"/>
          </a:xfrm>
          <a:prstGeom prst="ellipse">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GB" sz="1800" b="1" i="0" u="none" strike="noStrike" cap="none" normalizeH="0" baseline="0" dirty="0" smtClean="0">
              <a:ln>
                <a:noFill/>
              </a:ln>
              <a:solidFill>
                <a:schemeClr val="tx1"/>
              </a:solidFill>
              <a:effectLst/>
              <a:latin typeface="Lucida Sans" pitchFamily="34" charset="0"/>
            </a:endParaRPr>
          </a:p>
        </p:txBody>
      </p:sp>
      <p:sp>
        <p:nvSpPr>
          <p:cNvPr id="6" name="Rectangle 5"/>
          <p:cNvSpPr/>
          <p:nvPr/>
        </p:nvSpPr>
        <p:spPr bwMode="auto">
          <a:xfrm>
            <a:off x="1835696" y="2492896"/>
            <a:ext cx="2448272" cy="2232248"/>
          </a:xfrm>
          <a:prstGeom prst="rect">
            <a:avLst/>
          </a:prstGeom>
          <a:noFill/>
          <a:ln w="38100"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GB" sz="1800" b="1" i="0" u="none" strike="noStrike" cap="none" normalizeH="0" baseline="0" dirty="0" smtClean="0">
              <a:ln>
                <a:noFill/>
              </a:ln>
              <a:solidFill>
                <a:schemeClr val="tx1"/>
              </a:solidFill>
              <a:effectLst/>
              <a:latin typeface="Lucida Sans" pitchFamily="34" charset="0"/>
            </a:endParaRP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84353" y="116633"/>
            <a:ext cx="126866" cy="5184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817503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7032" y="332656"/>
            <a:ext cx="8167416" cy="5040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3" name="Straight Arrow Connector 2"/>
          <p:cNvCxnSpPr/>
          <p:nvPr/>
        </p:nvCxnSpPr>
        <p:spPr bwMode="auto">
          <a:xfrm flipH="1">
            <a:off x="7020272" y="2492896"/>
            <a:ext cx="1728192" cy="0"/>
          </a:xfrm>
          <a:prstGeom prst="straightConnector1">
            <a:avLst/>
          </a:prstGeom>
          <a:solidFill>
            <a:schemeClr val="accent1"/>
          </a:solidFill>
          <a:ln w="38100" cap="flat" cmpd="sng" algn="ctr">
            <a:solidFill>
              <a:srgbClr val="FF0000"/>
            </a:solidFill>
            <a:prstDash val="solid"/>
            <a:round/>
            <a:headEnd type="none" w="med" len="med"/>
            <a:tailEnd type="arrow"/>
          </a:ln>
          <a:effectLst/>
        </p:spPr>
      </p:cxnSp>
      <p:sp>
        <p:nvSpPr>
          <p:cNvPr id="4" name="Rectangle 3"/>
          <p:cNvSpPr/>
          <p:nvPr/>
        </p:nvSpPr>
        <p:spPr bwMode="auto">
          <a:xfrm>
            <a:off x="437032" y="4293096"/>
            <a:ext cx="1686696" cy="432048"/>
          </a:xfrm>
          <a:prstGeom prst="rect">
            <a:avLst/>
          </a:prstGeom>
          <a:noFill/>
          <a:ln w="38100"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GB" sz="1800" b="1" i="0" u="none" strike="noStrike" cap="none" normalizeH="0" baseline="0" dirty="0" smtClean="0">
              <a:ln>
                <a:noFill/>
              </a:ln>
              <a:solidFill>
                <a:schemeClr val="tx1"/>
              </a:solidFill>
              <a:effectLst/>
              <a:latin typeface="Lucida Sans" pitchFamily="34" charset="0"/>
            </a:endParaRPr>
          </a:p>
        </p:txBody>
      </p:sp>
    </p:spTree>
    <p:extLst>
      <p:ext uri="{BB962C8B-B14F-4D97-AF65-F5344CB8AC3E}">
        <p14:creationId xmlns:p14="http://schemas.microsoft.com/office/powerpoint/2010/main" val="3105992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1052736"/>
            <a:ext cx="7182581" cy="2448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3" name="Straight Arrow Connector 2"/>
          <p:cNvCxnSpPr/>
          <p:nvPr/>
        </p:nvCxnSpPr>
        <p:spPr bwMode="auto">
          <a:xfrm>
            <a:off x="179512" y="2276872"/>
            <a:ext cx="936104" cy="0"/>
          </a:xfrm>
          <a:prstGeom prst="straightConnector1">
            <a:avLst/>
          </a:prstGeom>
          <a:solidFill>
            <a:schemeClr val="accent1"/>
          </a:solidFill>
          <a:ln w="38100" cap="flat" cmpd="sng" algn="ctr">
            <a:solidFill>
              <a:schemeClr val="tx1"/>
            </a:solidFill>
            <a:prstDash val="solid"/>
            <a:round/>
            <a:headEnd type="none" w="med" len="med"/>
            <a:tailEnd type="arrow"/>
          </a:ln>
          <a:effectLst/>
        </p:spPr>
      </p:cxnSp>
      <p:cxnSp>
        <p:nvCxnSpPr>
          <p:cNvPr id="5" name="Straight Arrow Connector 4"/>
          <p:cNvCxnSpPr/>
          <p:nvPr/>
        </p:nvCxnSpPr>
        <p:spPr bwMode="auto">
          <a:xfrm flipH="1">
            <a:off x="7596336" y="1988840"/>
            <a:ext cx="792089" cy="0"/>
          </a:xfrm>
          <a:prstGeom prst="straightConnector1">
            <a:avLst/>
          </a:prstGeom>
          <a:solidFill>
            <a:schemeClr val="accent1"/>
          </a:solidFill>
          <a:ln w="38100" cap="flat" cmpd="sng" algn="ctr">
            <a:solidFill>
              <a:schemeClr val="tx1"/>
            </a:solidFill>
            <a:prstDash val="solid"/>
            <a:round/>
            <a:headEnd type="none" w="med" len="med"/>
            <a:tailEnd type="arrow"/>
          </a:ln>
          <a:effectLst/>
        </p:spPr>
      </p:cxnSp>
      <p:cxnSp>
        <p:nvCxnSpPr>
          <p:cNvPr id="8" name="Straight Arrow Connector 7"/>
          <p:cNvCxnSpPr/>
          <p:nvPr/>
        </p:nvCxnSpPr>
        <p:spPr bwMode="auto">
          <a:xfrm flipH="1">
            <a:off x="7596336" y="2420888"/>
            <a:ext cx="792089" cy="0"/>
          </a:xfrm>
          <a:prstGeom prst="straightConnector1">
            <a:avLst/>
          </a:prstGeom>
          <a:solidFill>
            <a:schemeClr val="accent1"/>
          </a:solidFill>
          <a:ln w="38100" cap="flat" cmpd="sng" algn="ctr">
            <a:solidFill>
              <a:schemeClr val="tx1"/>
            </a:solidFill>
            <a:prstDash val="solid"/>
            <a:round/>
            <a:headEnd type="none" w="med" len="med"/>
            <a:tailEnd type="arrow"/>
          </a:ln>
          <a:effectLst/>
        </p:spPr>
      </p:cxnSp>
    </p:spTree>
    <p:extLst>
      <p:ext uri="{BB962C8B-B14F-4D97-AF65-F5344CB8AC3E}">
        <p14:creationId xmlns:p14="http://schemas.microsoft.com/office/powerpoint/2010/main" val="2683571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3"/>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5"/>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9832" y="327622"/>
            <a:ext cx="3574901" cy="55077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9" name="Straight Arrow Connector 8"/>
          <p:cNvCxnSpPr/>
          <p:nvPr/>
        </p:nvCxnSpPr>
        <p:spPr bwMode="auto">
          <a:xfrm>
            <a:off x="1547664" y="1196752"/>
            <a:ext cx="1584176" cy="0"/>
          </a:xfrm>
          <a:prstGeom prst="straightConnector1">
            <a:avLst/>
          </a:prstGeom>
          <a:solidFill>
            <a:schemeClr val="accent1"/>
          </a:solidFill>
          <a:ln w="38100" cap="flat" cmpd="sng" algn="ctr">
            <a:solidFill>
              <a:srgbClr val="00B050"/>
            </a:solidFill>
            <a:prstDash val="solid"/>
            <a:round/>
            <a:headEnd type="none" w="med" len="med"/>
            <a:tailEnd type="arrow"/>
          </a:ln>
          <a:effectLst/>
        </p:spPr>
      </p:cxnSp>
      <p:cxnSp>
        <p:nvCxnSpPr>
          <p:cNvPr id="10" name="Straight Arrow Connector 9"/>
          <p:cNvCxnSpPr/>
          <p:nvPr/>
        </p:nvCxnSpPr>
        <p:spPr bwMode="auto">
          <a:xfrm>
            <a:off x="1547664" y="4005064"/>
            <a:ext cx="1584176" cy="0"/>
          </a:xfrm>
          <a:prstGeom prst="straightConnector1">
            <a:avLst/>
          </a:prstGeom>
          <a:solidFill>
            <a:schemeClr val="accent1"/>
          </a:solidFill>
          <a:ln w="38100" cap="flat" cmpd="sng" algn="ctr">
            <a:solidFill>
              <a:srgbClr val="00B050"/>
            </a:solidFill>
            <a:prstDash val="solid"/>
            <a:round/>
            <a:headEnd type="none" w="med" len="med"/>
            <a:tailEnd type="arrow"/>
          </a:ln>
          <a:effectLst/>
        </p:spPr>
      </p:cxnSp>
    </p:spTree>
    <p:extLst>
      <p:ext uri="{BB962C8B-B14F-4D97-AF65-F5344CB8AC3E}">
        <p14:creationId xmlns:p14="http://schemas.microsoft.com/office/powerpoint/2010/main" val="174424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9"/>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648" y="692696"/>
            <a:ext cx="6229350" cy="4349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0825" y="2451100"/>
            <a:ext cx="6102350" cy="195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3"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4365848"/>
            <a:ext cx="6858000" cy="1151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Oval 8"/>
          <p:cNvSpPr/>
          <p:nvPr/>
        </p:nvSpPr>
        <p:spPr bwMode="auto">
          <a:xfrm>
            <a:off x="6156176" y="692696"/>
            <a:ext cx="576064" cy="432048"/>
          </a:xfrm>
          <a:prstGeom prst="ellipse">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GB" sz="1800" b="1" i="0" u="none" strike="noStrike" cap="none" normalizeH="0" baseline="0" dirty="0" smtClean="0">
              <a:ln>
                <a:noFill/>
              </a:ln>
              <a:solidFill>
                <a:schemeClr val="tx1"/>
              </a:solidFill>
              <a:effectLst/>
              <a:latin typeface="Lucida Sans" pitchFamily="34" charset="0"/>
            </a:endParaRPr>
          </a:p>
        </p:txBody>
      </p:sp>
      <p:cxnSp>
        <p:nvCxnSpPr>
          <p:cNvPr id="6" name="Straight Arrow Connector 5"/>
          <p:cNvCxnSpPr/>
          <p:nvPr/>
        </p:nvCxnSpPr>
        <p:spPr bwMode="auto">
          <a:xfrm flipV="1">
            <a:off x="1763688" y="4437112"/>
            <a:ext cx="0" cy="792088"/>
          </a:xfrm>
          <a:prstGeom prst="straightConnector1">
            <a:avLst/>
          </a:prstGeom>
          <a:solidFill>
            <a:schemeClr val="accent1"/>
          </a:solidFill>
          <a:ln w="38100" cap="flat" cmpd="sng" algn="ctr">
            <a:solidFill>
              <a:srgbClr val="00B050"/>
            </a:solidFill>
            <a:prstDash val="solid"/>
            <a:round/>
            <a:headEnd type="none" w="med" len="med"/>
            <a:tailEnd type="arrow"/>
          </a:ln>
          <a:effectLst/>
        </p:spPr>
      </p:cxnSp>
      <p:cxnSp>
        <p:nvCxnSpPr>
          <p:cNvPr id="12" name="Straight Arrow Connector 11"/>
          <p:cNvCxnSpPr/>
          <p:nvPr/>
        </p:nvCxnSpPr>
        <p:spPr bwMode="auto">
          <a:xfrm flipV="1">
            <a:off x="3851920" y="4437112"/>
            <a:ext cx="0" cy="792088"/>
          </a:xfrm>
          <a:prstGeom prst="straightConnector1">
            <a:avLst/>
          </a:prstGeom>
          <a:solidFill>
            <a:schemeClr val="accent1"/>
          </a:solidFill>
          <a:ln w="38100" cap="flat" cmpd="sng" algn="ctr">
            <a:solidFill>
              <a:srgbClr val="00B050"/>
            </a:solidFill>
            <a:prstDash val="solid"/>
            <a:round/>
            <a:headEnd type="none" w="med" len="med"/>
            <a:tailEnd type="arrow"/>
          </a:ln>
          <a:effectLst/>
        </p:spPr>
      </p:cxnSp>
      <p:cxnSp>
        <p:nvCxnSpPr>
          <p:cNvPr id="13" name="Straight Arrow Connector 12"/>
          <p:cNvCxnSpPr/>
          <p:nvPr/>
        </p:nvCxnSpPr>
        <p:spPr bwMode="auto">
          <a:xfrm flipV="1">
            <a:off x="4644008" y="4437112"/>
            <a:ext cx="0" cy="792088"/>
          </a:xfrm>
          <a:prstGeom prst="straightConnector1">
            <a:avLst/>
          </a:prstGeom>
          <a:solidFill>
            <a:schemeClr val="accent1"/>
          </a:solidFill>
          <a:ln w="38100" cap="flat" cmpd="sng" algn="ctr">
            <a:solidFill>
              <a:srgbClr val="00B050"/>
            </a:solidFill>
            <a:prstDash val="solid"/>
            <a:round/>
            <a:headEnd type="none" w="med" len="med"/>
            <a:tailEnd type="arrow"/>
          </a:ln>
          <a:effectLst/>
        </p:spPr>
      </p:cxnSp>
      <p:cxnSp>
        <p:nvCxnSpPr>
          <p:cNvPr id="14" name="Straight Arrow Connector 13"/>
          <p:cNvCxnSpPr/>
          <p:nvPr/>
        </p:nvCxnSpPr>
        <p:spPr bwMode="auto">
          <a:xfrm flipV="1">
            <a:off x="5436096" y="4437112"/>
            <a:ext cx="0" cy="792088"/>
          </a:xfrm>
          <a:prstGeom prst="straightConnector1">
            <a:avLst/>
          </a:prstGeom>
          <a:solidFill>
            <a:schemeClr val="accent1"/>
          </a:solidFill>
          <a:ln w="38100" cap="flat" cmpd="sng" algn="ctr">
            <a:solidFill>
              <a:srgbClr val="00B050"/>
            </a:solidFill>
            <a:prstDash val="solid"/>
            <a:round/>
            <a:headEnd type="none" w="med" len="med"/>
            <a:tailEnd type="arrow"/>
          </a:ln>
          <a:effectLst/>
        </p:spPr>
      </p:cxnSp>
      <p:cxnSp>
        <p:nvCxnSpPr>
          <p:cNvPr id="15" name="Straight Arrow Connector 14"/>
          <p:cNvCxnSpPr/>
          <p:nvPr/>
        </p:nvCxnSpPr>
        <p:spPr bwMode="auto">
          <a:xfrm flipV="1">
            <a:off x="6732240" y="4437112"/>
            <a:ext cx="0" cy="792088"/>
          </a:xfrm>
          <a:prstGeom prst="straightConnector1">
            <a:avLst/>
          </a:prstGeom>
          <a:solidFill>
            <a:schemeClr val="accent1"/>
          </a:solidFill>
          <a:ln w="38100" cap="flat" cmpd="sng" algn="ctr">
            <a:solidFill>
              <a:srgbClr val="00B050"/>
            </a:solidFill>
            <a:prstDash val="solid"/>
            <a:round/>
            <a:headEnd type="none" w="med" len="med"/>
            <a:tailEnd type="arrow"/>
          </a:ln>
          <a:effectLst/>
        </p:spPr>
      </p:cxnSp>
    </p:spTree>
    <p:extLst>
      <p:ext uri="{BB962C8B-B14F-4D97-AF65-F5344CB8AC3E}">
        <p14:creationId xmlns:p14="http://schemas.microsoft.com/office/powerpoint/2010/main" val="3718015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6"/>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12"/>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13"/>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nodeType="clickEffect">
                                  <p:stCondLst>
                                    <p:cond delay="0"/>
                                  </p:stCondLst>
                                  <p:childTnLst>
                                    <p:set>
                                      <p:cBhvr>
                                        <p:cTn id="28" dur="1" fill="hold">
                                          <p:stCondLst>
                                            <p:cond delay="0"/>
                                          </p:stCondLst>
                                        </p:cTn>
                                        <p:tgtEl>
                                          <p:spTgt spid="14"/>
                                        </p:tgtEl>
                                        <p:attrNameLst>
                                          <p:attrName>style.visibility</p:attrName>
                                        </p:attrNameLst>
                                      </p:cBhvr>
                                      <p:to>
                                        <p:strVal val="hidden"/>
                                      </p:to>
                                    </p:set>
                                  </p:childTnLst>
                                </p:cTn>
                              </p:par>
                              <p:par>
                                <p:cTn id="29" presetID="1" presetClass="entr" presetSubtype="0" fill="hold"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Facility considerations</a:t>
            </a:r>
            <a:endParaRPr lang="en-GB" dirty="0"/>
          </a:p>
        </p:txBody>
      </p:sp>
      <p:sp>
        <p:nvSpPr>
          <p:cNvPr id="3" name="Content Placeholder 2"/>
          <p:cNvSpPr>
            <a:spLocks noGrp="1"/>
          </p:cNvSpPr>
          <p:nvPr>
            <p:ph idx="1"/>
          </p:nvPr>
        </p:nvSpPr>
        <p:spPr/>
        <p:txBody>
          <a:bodyPr/>
          <a:lstStyle/>
          <a:p>
            <a:r>
              <a:rPr lang="en-GB" dirty="0" smtClean="0">
                <a:solidFill>
                  <a:srgbClr val="0070C0"/>
                </a:solidFill>
              </a:rPr>
              <a:t>Permissions?</a:t>
            </a:r>
          </a:p>
          <a:p>
            <a:endParaRPr lang="en-GB" dirty="0" smtClean="0">
              <a:solidFill>
                <a:srgbClr val="0070C0"/>
              </a:solidFill>
            </a:endParaRPr>
          </a:p>
          <a:p>
            <a:r>
              <a:rPr lang="en-GB" dirty="0" smtClean="0">
                <a:solidFill>
                  <a:srgbClr val="0070C0"/>
                </a:solidFill>
              </a:rPr>
              <a:t>Store reduced data and/or reduction scripts permanently?</a:t>
            </a:r>
          </a:p>
          <a:p>
            <a:endParaRPr lang="en-GB" dirty="0" smtClean="0">
              <a:solidFill>
                <a:srgbClr val="0070C0"/>
              </a:solidFill>
            </a:endParaRPr>
          </a:p>
          <a:p>
            <a:r>
              <a:rPr lang="en-GB" dirty="0" smtClean="0">
                <a:solidFill>
                  <a:srgbClr val="0070C0"/>
                </a:solidFill>
              </a:rPr>
              <a:t>Catalogue reduced data and/or reduction scripts?</a:t>
            </a:r>
          </a:p>
          <a:p>
            <a:endParaRPr lang="en-GB" dirty="0"/>
          </a:p>
        </p:txBody>
      </p:sp>
    </p:spTree>
    <p:extLst>
      <p:ext uri="{BB962C8B-B14F-4D97-AF65-F5344CB8AC3E}">
        <p14:creationId xmlns:p14="http://schemas.microsoft.com/office/powerpoint/2010/main" val="328900147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57195" y="2607295"/>
            <a:ext cx="7531229" cy="461665"/>
          </a:xfrm>
          <a:prstGeom prst="rect">
            <a:avLst/>
          </a:prstGeom>
          <a:noFill/>
        </p:spPr>
        <p:txBody>
          <a:bodyPr wrap="none" rtlCol="0">
            <a:spAutoFit/>
          </a:bodyPr>
          <a:lstStyle/>
          <a:p>
            <a:r>
              <a:rPr lang="en-GB" sz="2400" dirty="0" smtClean="0">
                <a:solidFill>
                  <a:srgbClr val="0070C0"/>
                </a:solidFill>
              </a:rPr>
              <a:t>https</a:t>
            </a:r>
            <a:r>
              <a:rPr lang="en-GB" sz="2400" dirty="0">
                <a:solidFill>
                  <a:srgbClr val="0070C0"/>
                </a:solidFill>
              </a:rPr>
              <a:t>://github.com/mantidproject/autoreduce</a:t>
            </a:r>
          </a:p>
        </p:txBody>
      </p:sp>
    </p:spTree>
    <p:extLst>
      <p:ext uri="{BB962C8B-B14F-4D97-AF65-F5344CB8AC3E}">
        <p14:creationId xmlns:p14="http://schemas.microsoft.com/office/powerpoint/2010/main" val="351565101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email,server,computer,mail,message,letter,envelo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1920" y="2550094"/>
            <a:ext cx="1219200" cy="1219201"/>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C:\Users\ajm64\AppData\Local\Microsoft\Windows\INetCache\IE\M0QFBJBM\hpc_120px[1].png"/>
          <p:cNvPicPr/>
          <p:nvPr/>
        </p:nvPicPr>
        <p:blipFill>
          <a:blip r:embed="rId3">
            <a:extLst>
              <a:ext uri="{28A0092B-C50C-407E-A947-70E740481C1C}">
                <a14:useLocalDpi xmlns:a14="http://schemas.microsoft.com/office/drawing/2010/main" val="0"/>
              </a:ext>
            </a:extLst>
          </a:blip>
          <a:srcRect/>
          <a:stretch>
            <a:fillRect/>
          </a:stretch>
        </p:blipFill>
        <p:spPr bwMode="auto">
          <a:xfrm>
            <a:off x="6876256" y="2689175"/>
            <a:ext cx="1524000" cy="1143000"/>
          </a:xfrm>
          <a:prstGeom prst="rect">
            <a:avLst/>
          </a:prstGeom>
          <a:noFill/>
          <a:ln>
            <a:noFill/>
          </a:ln>
        </p:spPr>
      </p:pic>
      <p:sp>
        <p:nvSpPr>
          <p:cNvPr id="7" name="TextBox 6"/>
          <p:cNvSpPr txBox="1"/>
          <p:nvPr/>
        </p:nvSpPr>
        <p:spPr>
          <a:xfrm>
            <a:off x="3419872" y="3843044"/>
            <a:ext cx="2358338" cy="646331"/>
          </a:xfrm>
          <a:prstGeom prst="rect">
            <a:avLst/>
          </a:prstGeom>
          <a:noFill/>
        </p:spPr>
        <p:txBody>
          <a:bodyPr wrap="none" rtlCol="0">
            <a:spAutoFit/>
          </a:bodyPr>
          <a:lstStyle/>
          <a:p>
            <a:r>
              <a:rPr lang="en-GB" dirty="0" smtClean="0"/>
              <a:t>ActiveMQ</a:t>
            </a:r>
          </a:p>
          <a:p>
            <a:r>
              <a:rPr lang="en-GB" dirty="0"/>
              <a:t>M</a:t>
            </a:r>
            <a:r>
              <a:rPr lang="en-GB" dirty="0" smtClean="0"/>
              <a:t>essaging Server</a:t>
            </a:r>
            <a:endParaRPr lang="en-GB" dirty="0"/>
          </a:p>
        </p:txBody>
      </p:sp>
      <p:sp>
        <p:nvSpPr>
          <p:cNvPr id="8" name="TextBox 7"/>
          <p:cNvSpPr txBox="1"/>
          <p:nvPr/>
        </p:nvSpPr>
        <p:spPr>
          <a:xfrm>
            <a:off x="6971176" y="3985319"/>
            <a:ext cx="1345240" cy="646331"/>
          </a:xfrm>
          <a:prstGeom prst="rect">
            <a:avLst/>
          </a:prstGeom>
          <a:noFill/>
        </p:spPr>
        <p:txBody>
          <a:bodyPr wrap="none" rtlCol="0">
            <a:spAutoFit/>
          </a:bodyPr>
          <a:lstStyle/>
          <a:p>
            <a:r>
              <a:rPr lang="en-GB" dirty="0" smtClean="0"/>
              <a:t>Compute</a:t>
            </a:r>
          </a:p>
          <a:p>
            <a:r>
              <a:rPr lang="en-GB" dirty="0" smtClean="0"/>
              <a:t>resources</a:t>
            </a:r>
            <a:endParaRPr lang="en-GB" dirty="0"/>
          </a:p>
        </p:txBody>
      </p:sp>
      <p:sp>
        <p:nvSpPr>
          <p:cNvPr id="12" name="TextBox 11"/>
          <p:cNvSpPr txBox="1"/>
          <p:nvPr/>
        </p:nvSpPr>
        <p:spPr>
          <a:xfrm>
            <a:off x="3707904" y="960983"/>
            <a:ext cx="1736373" cy="369332"/>
          </a:xfrm>
          <a:prstGeom prst="rect">
            <a:avLst/>
          </a:prstGeom>
          <a:noFill/>
          <a:ln w="25400">
            <a:solidFill>
              <a:schemeClr val="tx1"/>
            </a:solidFill>
          </a:ln>
        </p:spPr>
        <p:txBody>
          <a:bodyPr wrap="none" rtlCol="0">
            <a:spAutoFit/>
          </a:bodyPr>
          <a:lstStyle/>
          <a:p>
            <a:r>
              <a:rPr lang="en-GB" dirty="0" smtClean="0"/>
              <a:t>Disk monitor</a:t>
            </a:r>
            <a:endParaRPr lang="en-GB" dirty="0"/>
          </a:p>
        </p:txBody>
      </p:sp>
      <p:cxnSp>
        <p:nvCxnSpPr>
          <p:cNvPr id="19" name="Straight Arrow Connector 18"/>
          <p:cNvCxnSpPr/>
          <p:nvPr/>
        </p:nvCxnSpPr>
        <p:spPr bwMode="auto">
          <a:xfrm flipH="1">
            <a:off x="5444276" y="3409255"/>
            <a:ext cx="1287964" cy="0"/>
          </a:xfrm>
          <a:prstGeom prst="straightConnector1">
            <a:avLst/>
          </a:prstGeom>
          <a:solidFill>
            <a:schemeClr val="accent1"/>
          </a:solidFill>
          <a:ln w="25400" cap="flat" cmpd="sng" algn="ctr">
            <a:solidFill>
              <a:schemeClr val="tx1"/>
            </a:solidFill>
            <a:prstDash val="sysDot"/>
            <a:round/>
            <a:headEnd type="arrow" w="med" len="med"/>
            <a:tailEnd type="arrow"/>
          </a:ln>
          <a:effectLst/>
        </p:spPr>
      </p:cxnSp>
      <p:cxnSp>
        <p:nvCxnSpPr>
          <p:cNvPr id="22" name="Straight Arrow Connector 21"/>
          <p:cNvCxnSpPr/>
          <p:nvPr/>
        </p:nvCxnSpPr>
        <p:spPr bwMode="auto">
          <a:xfrm flipH="1">
            <a:off x="4565780" y="1321023"/>
            <a:ext cx="1" cy="1219779"/>
          </a:xfrm>
          <a:prstGeom prst="straightConnector1">
            <a:avLst/>
          </a:prstGeom>
          <a:solidFill>
            <a:schemeClr val="accent1"/>
          </a:solidFill>
          <a:ln w="25400" cap="flat" cmpd="sng" algn="ctr">
            <a:solidFill>
              <a:schemeClr val="tx1"/>
            </a:solidFill>
            <a:prstDash val="sysDot"/>
            <a:round/>
            <a:headEnd type="none" w="med" len="med"/>
            <a:tailEnd type="arrow"/>
          </a:ln>
          <a:effectLst/>
        </p:spPr>
      </p:cxnSp>
      <p:pic>
        <p:nvPicPr>
          <p:cNvPr id="28"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51520" y="2473151"/>
            <a:ext cx="1571297" cy="1584176"/>
          </a:xfrm>
          <a:prstGeom prst="rect">
            <a:avLst/>
          </a:prstGeom>
          <a:noFill/>
          <a:ln w="254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9" name="Straight Arrow Connector 28"/>
          <p:cNvCxnSpPr/>
          <p:nvPr/>
        </p:nvCxnSpPr>
        <p:spPr bwMode="auto">
          <a:xfrm flipH="1">
            <a:off x="2131908" y="3409255"/>
            <a:ext cx="1287964" cy="0"/>
          </a:xfrm>
          <a:prstGeom prst="straightConnector1">
            <a:avLst/>
          </a:prstGeom>
          <a:solidFill>
            <a:schemeClr val="accent1"/>
          </a:solidFill>
          <a:ln w="25400" cap="flat" cmpd="sng" algn="ctr">
            <a:solidFill>
              <a:schemeClr val="tx1"/>
            </a:solidFill>
            <a:prstDash val="sysDot"/>
            <a:round/>
            <a:headEnd type="arrow" w="med" len="med"/>
            <a:tailEnd type="arrow"/>
          </a:ln>
          <a:effectLst/>
        </p:spPr>
      </p:cxnSp>
      <p:sp>
        <p:nvSpPr>
          <p:cNvPr id="31" name="TextBox 30"/>
          <p:cNvSpPr txBox="1"/>
          <p:nvPr/>
        </p:nvSpPr>
        <p:spPr>
          <a:xfrm>
            <a:off x="179512" y="4048035"/>
            <a:ext cx="1803699" cy="369332"/>
          </a:xfrm>
          <a:prstGeom prst="rect">
            <a:avLst/>
          </a:prstGeom>
          <a:noFill/>
        </p:spPr>
        <p:txBody>
          <a:bodyPr wrap="none" rtlCol="0">
            <a:spAutoFit/>
          </a:bodyPr>
          <a:lstStyle/>
          <a:p>
            <a:r>
              <a:rPr lang="en-GB" dirty="0" smtClean="0"/>
              <a:t>Web</a:t>
            </a:r>
            <a:r>
              <a:rPr lang="en-GB" dirty="0"/>
              <a:t> </a:t>
            </a:r>
            <a:r>
              <a:rPr lang="en-GB" dirty="0" smtClean="0"/>
              <a:t>interface</a:t>
            </a:r>
          </a:p>
        </p:txBody>
      </p:sp>
      <p:sp>
        <p:nvSpPr>
          <p:cNvPr id="26" name="TextBox 25"/>
          <p:cNvSpPr txBox="1"/>
          <p:nvPr/>
        </p:nvSpPr>
        <p:spPr>
          <a:xfrm>
            <a:off x="4553742" y="1700808"/>
            <a:ext cx="1098378" cy="307777"/>
          </a:xfrm>
          <a:prstGeom prst="rect">
            <a:avLst/>
          </a:prstGeom>
          <a:noFill/>
        </p:spPr>
        <p:txBody>
          <a:bodyPr wrap="none" rtlCol="0">
            <a:spAutoFit/>
          </a:bodyPr>
          <a:lstStyle/>
          <a:p>
            <a:r>
              <a:rPr lang="en-GB" sz="1400" dirty="0" smtClean="0"/>
              <a:t>messages</a:t>
            </a:r>
            <a:endParaRPr lang="en-GB" sz="1400" dirty="0"/>
          </a:p>
        </p:txBody>
      </p:sp>
      <p:sp>
        <p:nvSpPr>
          <p:cNvPr id="34" name="TextBox 33"/>
          <p:cNvSpPr txBox="1"/>
          <p:nvPr/>
        </p:nvSpPr>
        <p:spPr>
          <a:xfrm>
            <a:off x="2195736" y="3409255"/>
            <a:ext cx="1098378" cy="307777"/>
          </a:xfrm>
          <a:prstGeom prst="rect">
            <a:avLst/>
          </a:prstGeom>
          <a:noFill/>
        </p:spPr>
        <p:txBody>
          <a:bodyPr wrap="none" rtlCol="0">
            <a:spAutoFit/>
          </a:bodyPr>
          <a:lstStyle/>
          <a:p>
            <a:r>
              <a:rPr lang="en-GB" sz="1400" dirty="0" smtClean="0"/>
              <a:t>messages</a:t>
            </a:r>
            <a:endParaRPr lang="en-GB" sz="1400" dirty="0"/>
          </a:p>
        </p:txBody>
      </p:sp>
      <p:sp>
        <p:nvSpPr>
          <p:cNvPr id="35" name="TextBox 34"/>
          <p:cNvSpPr txBox="1"/>
          <p:nvPr/>
        </p:nvSpPr>
        <p:spPr>
          <a:xfrm>
            <a:off x="5508104" y="3409255"/>
            <a:ext cx="1098378" cy="307777"/>
          </a:xfrm>
          <a:prstGeom prst="rect">
            <a:avLst/>
          </a:prstGeom>
          <a:noFill/>
        </p:spPr>
        <p:txBody>
          <a:bodyPr wrap="none" rtlCol="0">
            <a:spAutoFit/>
          </a:bodyPr>
          <a:lstStyle/>
          <a:p>
            <a:r>
              <a:rPr lang="en-GB" sz="1400" dirty="0" smtClean="0"/>
              <a:t>messages</a:t>
            </a:r>
            <a:endParaRPr lang="en-GB" sz="1400" dirty="0"/>
          </a:p>
        </p:txBody>
      </p:sp>
    </p:spTree>
    <p:extLst>
      <p:ext uri="{BB962C8B-B14F-4D97-AF65-F5344CB8AC3E}">
        <p14:creationId xmlns:p14="http://schemas.microsoft.com/office/powerpoint/2010/main" val="2531021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07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2" grpId="0" animBg="1"/>
      <p:bldP spid="31" grpId="0"/>
      <p:bldP spid="26" grpId="0"/>
      <p:bldP spid="34" grpId="0"/>
      <p:bldP spid="3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a:spLocks/>
          </p:cNvSpPr>
          <p:nvPr/>
        </p:nvSpPr>
        <p:spPr>
          <a:xfrm>
            <a:off x="745232" y="1484784"/>
            <a:ext cx="807524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GB" sz="2400" dirty="0" smtClean="0"/>
              <a:t>Marcus </a:t>
            </a:r>
            <a:r>
              <a:rPr lang="en-GB" sz="2400" dirty="0" smtClean="0"/>
              <a:t>Noble</a:t>
            </a:r>
          </a:p>
          <a:p>
            <a:pPr marL="0" indent="0">
              <a:buNone/>
            </a:pPr>
            <a:r>
              <a:rPr lang="en-GB" sz="2400" dirty="0" smtClean="0"/>
              <a:t>Lottie Greenwood</a:t>
            </a:r>
          </a:p>
          <a:p>
            <a:pPr marL="0" indent="0">
              <a:buNone/>
            </a:pPr>
            <a:r>
              <a:rPr lang="en-GB" sz="2400" dirty="0" smtClean="0"/>
              <a:t>Dominic Oram</a:t>
            </a:r>
          </a:p>
          <a:p>
            <a:pPr marL="0" indent="0">
              <a:buNone/>
            </a:pPr>
            <a:endParaRPr lang="en-GB" dirty="0" smtClean="0"/>
          </a:p>
        </p:txBody>
      </p:sp>
      <p:sp>
        <p:nvSpPr>
          <p:cNvPr id="2" name="Title 1"/>
          <p:cNvSpPr>
            <a:spLocks noGrp="1"/>
          </p:cNvSpPr>
          <p:nvPr>
            <p:ph type="title"/>
          </p:nvPr>
        </p:nvSpPr>
        <p:spPr/>
        <p:txBody>
          <a:bodyPr/>
          <a:lstStyle/>
          <a:p>
            <a:r>
              <a:rPr lang="en-GB" dirty="0" smtClean="0"/>
              <a:t>Acknowledgment</a:t>
            </a:r>
            <a:endParaRPr lang="en-GB" dirty="0"/>
          </a:p>
        </p:txBody>
      </p:sp>
      <p:sp>
        <p:nvSpPr>
          <p:cNvPr id="5" name="TextBox 4"/>
          <p:cNvSpPr txBox="1"/>
          <p:nvPr/>
        </p:nvSpPr>
        <p:spPr>
          <a:xfrm>
            <a:off x="607176" y="2852936"/>
            <a:ext cx="6845144" cy="2308324"/>
          </a:xfrm>
          <a:prstGeom prst="rect">
            <a:avLst/>
          </a:prstGeom>
          <a:noFill/>
        </p:spPr>
        <p:txBody>
          <a:bodyPr wrap="none" rtlCol="0">
            <a:spAutoFit/>
          </a:bodyPr>
          <a:lstStyle/>
          <a:p>
            <a:r>
              <a:rPr lang="en-GB" dirty="0" smtClean="0"/>
              <a:t> </a:t>
            </a:r>
          </a:p>
          <a:p>
            <a:r>
              <a:rPr lang="en-GB" dirty="0" smtClean="0"/>
              <a:t>  SNS: Mathieu </a:t>
            </a:r>
            <a:r>
              <a:rPr lang="en-GB" dirty="0" err="1" smtClean="0"/>
              <a:t>Doucet</a:t>
            </a:r>
            <a:r>
              <a:rPr lang="en-GB" dirty="0" smtClean="0"/>
              <a:t> and Shelly </a:t>
            </a:r>
            <a:r>
              <a:rPr lang="en-GB" dirty="0" err="1" smtClean="0"/>
              <a:t>Ren</a:t>
            </a:r>
            <a:r>
              <a:rPr lang="en-GB" dirty="0" smtClean="0"/>
              <a:t>  </a:t>
            </a:r>
          </a:p>
          <a:p>
            <a:endParaRPr lang="en-GB" dirty="0" smtClean="0"/>
          </a:p>
          <a:p>
            <a:r>
              <a:rPr lang="en-GB" dirty="0"/>
              <a:t> </a:t>
            </a:r>
            <a:r>
              <a:rPr lang="en-GB" dirty="0" smtClean="0"/>
              <a:t> Team members: Nick Draper and </a:t>
            </a:r>
            <a:r>
              <a:rPr lang="en-GB" dirty="0" err="1" smtClean="0"/>
              <a:t>Martyn</a:t>
            </a:r>
            <a:r>
              <a:rPr lang="en-GB" dirty="0" smtClean="0"/>
              <a:t> </a:t>
            </a:r>
            <a:r>
              <a:rPr lang="en-GB" dirty="0" err="1" smtClean="0"/>
              <a:t>Gigg</a:t>
            </a:r>
            <a:endParaRPr lang="en-GB" dirty="0" smtClean="0"/>
          </a:p>
          <a:p>
            <a:endParaRPr lang="en-GB" dirty="0"/>
          </a:p>
          <a:p>
            <a:r>
              <a:rPr lang="en-GB" dirty="0" smtClean="0"/>
              <a:t>  Computing group: Tom </a:t>
            </a:r>
            <a:r>
              <a:rPr lang="en-GB" dirty="0"/>
              <a:t>Griffin</a:t>
            </a:r>
            <a:r>
              <a:rPr lang="en-GB" dirty="0" smtClean="0"/>
              <a:t>, Warren </a:t>
            </a:r>
            <a:r>
              <a:rPr lang="en-GB" dirty="0" err="1" smtClean="0"/>
              <a:t>Jeffs</a:t>
            </a:r>
            <a:r>
              <a:rPr lang="en-GB" dirty="0" smtClean="0"/>
              <a:t>, Leon Neil </a:t>
            </a:r>
          </a:p>
          <a:p>
            <a:r>
              <a:rPr lang="en-GB" dirty="0"/>
              <a:t> </a:t>
            </a:r>
            <a:r>
              <a:rPr lang="en-GB" dirty="0" smtClean="0"/>
              <a:t>                                and </a:t>
            </a:r>
            <a:r>
              <a:rPr lang="en-GB" dirty="0"/>
              <a:t>Chris </a:t>
            </a:r>
            <a:r>
              <a:rPr lang="en-GB" dirty="0" err="1"/>
              <a:t>Moreton</a:t>
            </a:r>
            <a:r>
              <a:rPr lang="en-GB" dirty="0"/>
              <a:t>-Smith </a:t>
            </a:r>
          </a:p>
          <a:p>
            <a:endParaRPr lang="en-GB" dirty="0"/>
          </a:p>
        </p:txBody>
      </p:sp>
    </p:spTree>
    <p:extLst>
      <p:ext uri="{BB962C8B-B14F-4D97-AF65-F5344CB8AC3E}">
        <p14:creationId xmlns:p14="http://schemas.microsoft.com/office/powerpoint/2010/main" val="358236954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2141984"/>
            <a:ext cx="8229600" cy="1143000"/>
          </a:xfrm>
        </p:spPr>
        <p:txBody>
          <a:bodyPr/>
          <a:lstStyle/>
          <a:p>
            <a:r>
              <a:rPr lang="en-GB" dirty="0" smtClean="0"/>
              <a:t>Thank you</a:t>
            </a:r>
            <a:endParaRPr lang="en-GB" dirty="0"/>
          </a:p>
        </p:txBody>
      </p:sp>
    </p:spTree>
    <p:extLst>
      <p:ext uri="{BB962C8B-B14F-4D97-AF65-F5344CB8AC3E}">
        <p14:creationId xmlns:p14="http://schemas.microsoft.com/office/powerpoint/2010/main" val="131852270"/>
      </p:ext>
    </p:extLst>
  </p:cSld>
  <p:clrMapOvr>
    <a:masterClrMapping/>
  </p:clrMapOvr>
  <p:timing>
    <p:tnLst>
      <p:par>
        <p:cTn id="1" dur="indefinite" restart="never" nodeType="tmRoot"/>
      </p:par>
    </p:tnLst>
  </p:timing>
</p:sld>
</file>

<file path=ppt/theme/theme1.xml><?xml version="1.0" encoding="utf-8"?>
<a:theme xmlns:a="http://schemas.openxmlformats.org/drawingml/2006/main" name="1_ISIS Small Bottom Banner">
  <a:themeElements>
    <a:clrScheme name="ISIS Small Bottom Banner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ISIS Small Bottom Banner">
      <a:majorFont>
        <a:latin typeface="Lucida Sans"/>
        <a:ea typeface=""/>
        <a:cs typeface=""/>
      </a:majorFont>
      <a:minorFont>
        <a:latin typeface="Lucida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Lucida Sans"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Lucida Sans" pitchFamily="34" charset="0"/>
          </a:defRPr>
        </a:defPPr>
      </a:lstStyle>
    </a:lnDef>
  </a:objectDefaults>
  <a:extraClrSchemeLst>
    <a:extraClrScheme>
      <a:clrScheme name="ISIS Small Bottom Banner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ISIS Small Bottom Banner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ISIS Small Bottom Banner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ISIS Small Bottom Banner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ISIS Small Bottom Banner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ISIS Small Bottom Banner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ISIS Small Bottom Banner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ISIS Small Bottom Banner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ISIS Small Bottom Banner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ISIS Small Bottom Banner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ISIS Small Bottom Banner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ISIS Small Bottom Banner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25444</TotalTime>
  <Words>326</Words>
  <Application>Microsoft Office PowerPoint</Application>
  <PresentationFormat>On-screen Show (4:3)</PresentationFormat>
  <Paragraphs>78</Paragraphs>
  <Slides>20</Slides>
  <Notes>1</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1_ISIS Small Bottom Banner</vt:lpstr>
      <vt:lpstr>Automated data reduction at ISIS </vt:lpstr>
      <vt:lpstr>Inspiration</vt:lpstr>
      <vt:lpstr>PowerPoint Presentation</vt:lpstr>
      <vt:lpstr>What is the purpose of automation? </vt:lpstr>
      <vt:lpstr>Scenario – Automated beamline</vt:lpstr>
      <vt:lpstr>Scenario – instrument scientist and user want to go to bed</vt:lpstr>
      <vt:lpstr>User requirements</vt:lpstr>
      <vt:lpstr>User requirements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Facility considerations</vt:lpstr>
      <vt:lpstr>PowerPoint Presentation</vt:lpstr>
      <vt:lpstr>PowerPoint Presentation</vt:lpstr>
      <vt:lpstr>Acknowledgment</vt:lpstr>
      <vt:lpstr>Thank you</vt:lpstr>
    </vt:vector>
  </TitlesOfParts>
  <Company>CCLRC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gmlh78</dc:creator>
  <cp:lastModifiedBy>Markvardsen, Anders (STFC,RAL,ISIS)</cp:lastModifiedBy>
  <cp:revision>568</cp:revision>
  <cp:lastPrinted>2015-04-23T10:36:30Z</cp:lastPrinted>
  <dcterms:created xsi:type="dcterms:W3CDTF">2007-04-16T13:36:05Z</dcterms:created>
  <dcterms:modified xsi:type="dcterms:W3CDTF">2015-09-02T06:17:54Z</dcterms:modified>
</cp:coreProperties>
</file>